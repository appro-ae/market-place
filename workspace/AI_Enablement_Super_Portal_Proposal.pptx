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Proposal of the four AI use cases agreed in the 20 Oct 'AI enablement on products' session, grounded on the current SMBP portal and verified market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Minutes by Kha, 20 Oct. Antofelix follow-up: all four depend on one LLM; direction = offline lightweight Foundry model, UAE-hosted. Use case 5 (FEEL variables in RE) folds into FEEL Assist.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Governance-first frame: every AI output is a draft into the existing maker-checker flow. CBUAE Guidance Note Feb 2026 expects human oversight on high-impact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 writes the rule; the impact numbers come from deterministic replay of past applications — no AI in the math. Shadow mode + maker request per the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feasibility: enterprise text-to-SQL accuracy collapses on raw schemas (BEAVER 10.8%, Spider 2.0 21.3%). Constrain to curated views + always show SQL. MCP exposes the same governed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Extraction + comparison vs application data. Main dependency is labelled samples — the largest data gap (slide 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FEEL is a formal DMN grammar: generate → parse → preview → maker request. Zero customer data needed to start. Recommended 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agenda §3–5: one base SLM + per-task adapters; RAG first, fine-tune where evals prove gaps; prompts/schemas/evals/guardrails stay model-agnostic.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CBUAE Feb 2026 guidance mapped to design choices. AI stops at draft; decisions stay deterministic.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Hailey + Gurkirat action from Antofelix's mail: tables/datasets for training &amp; grounding, and the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Research-method structure: each feature ships only after its experiment passes its gate. Gates are agreed with BAs/ops, not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Sequence by data readiness, not appeal. Dates land in Cathal's technical session; sequence and dependencies fixed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approve scope + sequence today; dates follow the technical session. After approval: clickable walkthrough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4114800"/>
            <a:ext cx="5486400" cy="5486400"/>
          </a:xfrm>
          <a:prstGeom prst="ellipse">
            <a:avLst/>
          </a:prstGeom>
          <a:solidFill>
            <a:srgbClr val="1A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2011680" cy="5874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" y="18288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14D"/>
                </a:solidFill>
                <a:latin typeface="Lato"/>
              </a:rPr>
              <a:t>Onboarding Powerhouse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214D"/>
                </a:solidFill>
                <a:latin typeface="Lato"/>
              </a:rPr>
              <a:t>AI Enablement in the Super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3B7EF6"/>
                </a:solidFill>
                <a:latin typeface="Lato"/>
              </a:rPr>
              <a:t>Feature proposal — four AI use cases for credit decisioning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14D"/>
                </a:solidFill>
                <a:latin typeface="Lato"/>
              </a:rPr>
              <a:t>Appro Onboarding Solutions FZ-LLC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14D"/>
                </a:solidFill>
                <a:latin typeface="Lato"/>
              </a:rPr>
              <a:t>Product Owner · 21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A214D"/>
                </a:solidFill>
                <a:latin typeface="Lato"/>
              </a:rPr>
              <a:t>APPRO – INTERNAL &amp; APPROVED DOMAINS | Controlled Distribution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74320"/>
            <a:ext cx="1280160" cy="3738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" y="493776"/>
            <a:ext cx="1640433" cy="274320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214D"/>
                </a:solidFill>
                <a:latin typeface="Lato"/>
              </a:rPr>
              <a:t>The Mandate </a:t>
            </a:r>
            <a:r>
              <a:rPr sz="2000" b="1" i="0">
                <a:solidFill>
                  <a:srgbClr val="3B7EF6"/>
                </a:solidFill>
                <a:latin typeface="Lato"/>
              </a:rPr>
              <a:t>— Four AI Use Cases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1A214D"/>
                </a:solidFill>
                <a:latin typeface="Lato"/>
              </a:rPr>
              <a:t>This document is classified as INTERNAL &amp; WHITELISTED | Sharing allowed only with approved external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1A214D"/>
                </a:solidFill>
                <a:latin typeface="Lato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9264"/>
            <a:ext cx="9921240" cy="749808"/>
          </a:xfrm>
          <a:prstGeom prst="roundRect">
            <a:avLst>
              <a:gd name="adj" fmla="val 18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9518904" cy="7498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200" b="1" i="0">
                <a:solidFill>
                  <a:srgbClr val="1A214D"/>
                </a:solidFill>
                <a:latin typeface="Lato"/>
              </a:rPr>
              <a:t>Agreed 20 Oct — AI embeds into existing SMBP modules, not a separate AI product. Each use case needs exactly one narrow LLM task; everything else stays deterministic.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74519"/>
            <a:ext cx="530352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98424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1 · Policy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2295144"/>
            <a:ext cx="5010912" cy="950976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03504" y="2221991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1A214D"/>
                </a:solidFill>
                <a:latin typeface="Lato"/>
              </a:rPr>
              <a:t>Credit Decision › Rule Engine (Strategies)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1965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20162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214D"/>
                </a:solidFill>
                <a:latin typeface="Lato"/>
              </a:rPr>
              <a:t>PROMPT →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2441448"/>
            <a:ext cx="5010912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214D"/>
                </a:solidFill>
                <a:latin typeface="Lato"/>
              </a:rPr>
              <a:t>•  Describe a policy change in plain language; pick product + time range.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214D"/>
                </a:solidFill>
                <a:latin typeface="Lato"/>
              </a:rPr>
              <a:t>•  System re-runs past applications (or specific IDs) and shows how many would pass under the new policy.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214D"/>
                </a:solidFill>
                <a:latin typeface="Lato"/>
              </a:rPr>
              <a:t>•  Lands as a Maker request with an AI-generated checklist; shadow mode before production.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874519"/>
            <a:ext cx="530352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98424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2 · AI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295144"/>
            <a:ext cx="5010912" cy="950976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64224" y="2221991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1A214D"/>
                </a:solidFill>
                <a:latin typeface="Lato"/>
              </a:rPr>
              <a:t>Enquiry › Report Enquiry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1965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0112" y="20162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214D"/>
                </a:solidFill>
                <a:latin typeface="Lato"/>
              </a:rPr>
              <a:t>PROMPT →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441448"/>
            <a:ext cx="5010912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214D"/>
                </a:solidFill>
                <a:latin typeface="Lato"/>
              </a:rPr>
              <a:t>•  Ask for a report in plain language; the system queries the database.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214D"/>
                </a:solidFill>
                <a:latin typeface="Lato"/>
              </a:rPr>
              <a:t>•  Result shows the generated SQL plus a chart or diagram.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214D"/>
                </a:solidFill>
                <a:latin typeface="Lato"/>
              </a:rPr>
              <a:t>•  Cathal: expose the same capability to banks through MCP.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538728"/>
            <a:ext cx="530352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648456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3 · AI Document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3959352"/>
            <a:ext cx="5010912" cy="950976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03504" y="3886200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1A214D"/>
                </a:solidFill>
                <a:latin typeface="Lato"/>
              </a:rPr>
              <a:t>Document Management › Document Set 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79392" y="36301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9392" y="36804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214D"/>
                </a:solidFill>
                <a:latin typeface="Lato"/>
              </a:rPr>
              <a:t>DOC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4105656"/>
            <a:ext cx="5010912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214D"/>
                </a:solidFill>
                <a:latin typeface="Lato"/>
              </a:rPr>
              <a:t>•  Validate documents in the new Document setup module.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214D"/>
                </a:solidFill>
                <a:latin typeface="Lato"/>
              </a:rPr>
              <a:t>•  Security cheques, source-of-income proofs, clearance letters checked against application data before ops review.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538728"/>
            <a:ext cx="530352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3648456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4 · FEEL Assist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3959352"/>
            <a:ext cx="5010912" cy="950976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64224" y="3886200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1A214D"/>
                </a:solidFill>
                <a:latin typeface="Lato"/>
              </a:rPr>
              <a:t>Limit Assignment › Calculated Variables · RE variables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40112" y="36301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36804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214D"/>
                </a:solidFill>
                <a:latin typeface="Lato"/>
              </a:rPr>
              <a:t>PROMPT → FEEL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4105656"/>
            <a:ext cx="5010912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214D"/>
                </a:solidFill>
                <a:latin typeface="Lato"/>
              </a:rPr>
              <a:t>•  Write FEEL formulas from a prompt — configuration is too difficult for users today (Anto).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214D"/>
                </a:solidFill>
                <a:latin typeface="Lato"/>
              </a:rPr>
              <a:t>•  Also covers use case 5: creating new Rule Engine variables with FEEL expressions.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257800"/>
            <a:ext cx="11064240" cy="731520"/>
          </a:xfrm>
          <a:prstGeom prst="roundRect">
            <a:avLst>
              <a:gd name="adj" fmla="val 18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257800"/>
            <a:ext cx="10661904" cy="7315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200" b="1" i="0">
                <a:solidFill>
                  <a:srgbClr val="1A214D"/>
                </a:solidFill>
                <a:latin typeface="Lato"/>
              </a:rPr>
              <a:t>Technical direction (Antofelix, 20 Oct): one offline, lightweight model from the Foundry catalog, specialised for these tasks, hosted in the UAE — plan and dates tracked per activity.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A214D"/>
                </a:solidFill>
                <a:latin typeface="Lato"/>
              </a:rPr>
              <a:t>APPRO – INTERNAL &amp; APPROVED DOMAINS | Controlled Distribution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74320"/>
            <a:ext cx="1280160" cy="3738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" y="493776"/>
            <a:ext cx="1640433" cy="274320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214D"/>
                </a:solidFill>
                <a:latin typeface="Lato"/>
              </a:rPr>
              <a:t>Design Principle </a:t>
            </a:r>
            <a:r>
              <a:rPr sz="2000" b="1" i="0">
                <a:solidFill>
                  <a:srgbClr val="3B7EF6"/>
                </a:solidFill>
                <a:latin typeface="Lato"/>
              </a:rPr>
              <a:t>— AI Drafts, Maker-Checker Decides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1A214D"/>
                </a:solidFill>
                <a:latin typeface="Lato"/>
              </a:rPr>
              <a:t>This document is classified as INTERNAL &amp; WHITELISTED | Sharing allowed only with approved external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1A214D"/>
                </a:solidFill>
                <a:latin typeface="Lato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9264"/>
            <a:ext cx="9921240" cy="749808"/>
          </a:xfrm>
          <a:prstGeom prst="roundRect">
            <a:avLst>
              <a:gd name="adj" fmla="val 18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9518904" cy="7498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200" b="1" i="0">
                <a:solidFill>
                  <a:srgbClr val="1A214D"/>
                </a:solidFill>
                <a:latin typeface="Lato"/>
              </a:rPr>
              <a:t>Every use case follows one pattern — AI drafts, the platform validates, Maker-Checker approves. No AI output reaches production unreviewed.</a:t>
            </a:r>
          </a:p>
        </p:txBody>
      </p:sp>
      <p:pic>
        <p:nvPicPr>
          <p:cNvPr id="15" name="Picture 14" descr="00-landing-t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6675120" cy="24614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43484" y="1906524"/>
            <a:ext cx="6702552" cy="248888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45698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1A214D"/>
                </a:solidFill>
                <a:latin typeface="Lato"/>
              </a:rPr>
              <a:t>SMBP Super Portal — Channel Management (mirror build, demo data). All four features land inside existing modules.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00600"/>
            <a:ext cx="6675120" cy="1463040"/>
          </a:xfrm>
          <a:prstGeom prst="roundRect">
            <a:avLst>
              <a:gd name="adj" fmla="val 10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98348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The pattern — every use case, same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321808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214D"/>
                </a:solidFill>
                <a:latin typeface="Lato"/>
              </a:rPr>
              <a:t>Prompt  →  AI draft  →  Validation  →  Maker request  →  Checker approval  →  Publish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68756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214D"/>
                </a:solidFill>
                <a:latin typeface="Lato"/>
              </a:rPr>
              <a:t>The model proposes; parsers, replays and field-matching verify; people approve.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920240"/>
            <a:ext cx="420624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2029968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Why it passes review — CBUAE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340864"/>
            <a:ext cx="3913631" cy="152704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Guidance Note, Feb 2026: </a:t>
            </a:r>
            <a:r>
              <a:rPr sz="1000" b="0" i="0">
                <a:solidFill>
                  <a:srgbClr val="1A214D"/>
                </a:solidFill>
                <a:latin typeface="Lato"/>
              </a:rPr>
              <a:t>responsible AI/ML for licensed financial institutions — human oversight on high-impact decisions, validation before deployment, drift monitoring and periodic bias testing.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Maker-checker meets this by construction </a:t>
            </a:r>
            <a:r>
              <a:rPr sz="1000" b="0" i="0">
                <a:solidFill>
                  <a:srgbClr val="1A214D"/>
                </a:solidFill>
                <a:latin typeface="Lato"/>
              </a:rPr>
              <a:t>— AI never holds the pen on a production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4160520"/>
            <a:ext cx="420624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504" y="4270248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Why SMBP is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4581144"/>
            <a:ext cx="3913631" cy="1572767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Controls already live: </a:t>
            </a:r>
            <a:r>
              <a:rPr sz="1000" b="0" i="0">
                <a:solidFill>
                  <a:srgbClr val="1A214D"/>
                </a:solidFill>
                <a:latin typeface="Lato"/>
              </a:rPr>
              <a:t>maker-checker on every configuration change, ~97-attribute Rule Engine catalog, formula builder and per-product document profiles.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AI plugs into controls we already run </a:t>
            </a:r>
            <a:r>
              <a:rPr sz="1000" b="0" i="0">
                <a:solidFill>
                  <a:srgbClr val="1A214D"/>
                </a:solidFill>
                <a:latin typeface="Lato"/>
              </a:rPr>
              <a:t>— no new governance framework to invent.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3679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1A214D"/>
                </a:solidFill>
                <a:latin typeface="Lato"/>
              </a:rPr>
              <a:t>Sources: CBUAE Guidance Note on AI/ML (Feb 2026) · SMBP portal mirror (Appro build)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A214D"/>
                </a:solidFill>
                <a:latin typeface="Lato"/>
              </a:rPr>
              <a:t>APPRO – INTERNAL &amp; APPROVED DOMAINS | Controlled Distribution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74320"/>
            <a:ext cx="1280160" cy="3738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" y="493776"/>
            <a:ext cx="1640433" cy="274320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214D"/>
                </a:solidFill>
                <a:latin typeface="Lato"/>
              </a:rPr>
              <a:t>Policy Copilot </a:t>
            </a:r>
            <a:r>
              <a:rPr sz="2000" b="1" i="0">
                <a:solidFill>
                  <a:srgbClr val="3B7EF6"/>
                </a:solidFill>
                <a:latin typeface="Lato"/>
              </a:rPr>
              <a:t>— Write Policy, Prove It On Our Own Book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1A214D"/>
                </a:solidFill>
                <a:latin typeface="Lato"/>
              </a:rPr>
              <a:t>This document is classified as INTERNAL &amp; WHITELISTED | Sharing allowed only with approved external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1A214D"/>
                </a:solidFill>
                <a:latin typeface="Lato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9264"/>
            <a:ext cx="9921240" cy="749808"/>
          </a:xfrm>
          <a:prstGeom prst="roundRect">
            <a:avLst>
              <a:gd name="adj" fmla="val 18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9518904" cy="7498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200" b="1" i="0">
                <a:solidFill>
                  <a:srgbClr val="1A214D"/>
                </a:solidFill>
                <a:latin typeface="Lato"/>
              </a:rPr>
              <a:t>Write policy in plain language — and prove it on our own book before it touches production.</a:t>
            </a:r>
          </a:p>
        </p:txBody>
      </p:sp>
      <p:pic>
        <p:nvPicPr>
          <p:cNvPr id="15" name="Picture 14" descr="01-rule-engine-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6675120" cy="360873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43484" y="1906524"/>
            <a:ext cx="6702552" cy="3636168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592984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1A214D"/>
                </a:solidFill>
                <a:latin typeface="Lato"/>
              </a:rPr>
              <a:t>Credit Decision › Strategies (Rule Engine) — segmentations and filters: the surface Policy Copilot writes 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920240"/>
            <a:ext cx="4206240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2029968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Requirement · prompt → rule  (20 Oct)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2340864"/>
            <a:ext cx="3913631" cy="914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Back-test: </a:t>
            </a:r>
            <a:r>
              <a:rPr sz="900" b="0" i="0">
                <a:solidFill>
                  <a:srgbClr val="1A214D"/>
                </a:solidFill>
                <a:latin typeface="Lato"/>
              </a:rPr>
              <a:t>prompt + product + time range → re-run past applications; show how many would pass under the new policy. Runs on specific application IDs too.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Governed: </a:t>
            </a:r>
            <a:r>
              <a:rPr sz="900" b="0" i="0">
                <a:solidFill>
                  <a:srgbClr val="1A214D"/>
                </a:solidFill>
                <a:latin typeface="Lato"/>
              </a:rPr>
              <a:t>output is a Maker request with an AI checklist; shadow mode before production.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456432"/>
            <a:ext cx="420624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1504" y="3566160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Market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3877056"/>
            <a:ext cx="3913631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Taktile: </a:t>
            </a:r>
            <a:r>
              <a:rPr sz="900" b="0" i="0">
                <a:solidFill>
                  <a:srgbClr val="1A214D"/>
                </a:solidFill>
                <a:latin typeface="Lato"/>
              </a:rPr>
              <a:t>AI copilot writes &amp; debugs decision logic (Monzo, Allianz, Rakuten Bank; $110M Series C, 2026).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Experian Assistant: </a:t>
            </a:r>
            <a:r>
              <a:rPr sz="900" b="0" i="0">
                <a:solidFill>
                  <a:srgbClr val="1A214D"/>
                </a:solidFill>
                <a:latin typeface="Lato"/>
              </a:rPr>
              <a:t>vendor-claimed model build cut from months to days.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Back-test + shadow: </a:t>
            </a:r>
            <a:r>
              <a:rPr sz="900" b="0" i="0">
                <a:solidFill>
                  <a:srgbClr val="1A214D"/>
                </a:solidFill>
                <a:latin typeface="Lato"/>
              </a:rPr>
              <a:t>standard champion-challenger discipline in decisioning platforms.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901184"/>
            <a:ext cx="4206240" cy="1362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1504" y="5010912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Feasibility &amp;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5321808"/>
            <a:ext cx="3913631" cy="832104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Narrow LLM task: </a:t>
            </a:r>
            <a:r>
              <a:rPr sz="900" b="0" i="0">
                <a:solidFill>
                  <a:srgbClr val="1A214D"/>
                </a:solidFill>
                <a:latin typeface="Lato"/>
              </a:rPr>
              <a:t>prompt → rule JSON against our attribute catalog. Impact numbers come from deterministic replay — never from the model.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Gate: </a:t>
            </a:r>
            <a:r>
              <a:rPr sz="900" b="0" i="0">
                <a:solidFill>
                  <a:srgbClr val="1A214D"/>
                </a:solidFill>
                <a:latin typeface="Lato"/>
              </a:rPr>
              <a:t>generated rules match analyst intent on a pre-agreed prompt set, then shadow pilot on one product.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3679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1A214D"/>
                </a:solidFill>
                <a:latin typeface="Lato"/>
              </a:rPr>
              <a:t>Sources: Taktile (company; Business Wire 2026) · Experian (vendor claim) · Forrester AI Decisioning Wave Q2 2025 (FICO Leader)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A214D"/>
                </a:solidFill>
                <a:latin typeface="Lato"/>
              </a:rPr>
              <a:t>APPRO – INTERNAL &amp; APPROVED DOMAINS | Controlled Distribution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74320"/>
            <a:ext cx="1280160" cy="3738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" y="493776"/>
            <a:ext cx="1640433" cy="274320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214D"/>
                </a:solidFill>
                <a:latin typeface="Lato"/>
              </a:rPr>
              <a:t>AI Reports </a:t>
            </a:r>
            <a:r>
              <a:rPr sz="2000" b="1" i="0">
                <a:solidFill>
                  <a:srgbClr val="3B7EF6"/>
                </a:solidFill>
                <a:latin typeface="Lato"/>
              </a:rPr>
              <a:t>— Governed Semantic Layer, Not Raw NL-to-SQL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1A214D"/>
                </a:solidFill>
                <a:latin typeface="Lato"/>
              </a:rPr>
              <a:t>This document is classified as INTERNAL &amp; WHITELISTED | Sharing allowed only with approved external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1A214D"/>
                </a:solidFill>
                <a:latin typeface="Lato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9264"/>
            <a:ext cx="9921240" cy="749808"/>
          </a:xfrm>
          <a:prstGeom prst="roundRect">
            <a:avLst>
              <a:gd name="adj" fmla="val 18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9518904" cy="7498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200" b="1" i="0">
                <a:solidFill>
                  <a:srgbClr val="1A214D"/>
                </a:solidFill>
                <a:latin typeface="Lato"/>
              </a:rPr>
              <a:t>Prompt-to-report is feasible — if we constrain it to a governed semantic layer. Raw NL-to-SQL fails on enterprise schemas.</a:t>
            </a:r>
          </a:p>
        </p:txBody>
      </p:sp>
      <p:pic>
        <p:nvPicPr>
          <p:cNvPr id="15" name="Picture 14" descr="02-report-enqui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6675120" cy="360873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43484" y="1906524"/>
            <a:ext cx="6702552" cy="3636168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592984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1A214D"/>
                </a:solidFill>
                <a:latin typeface="Lato"/>
              </a:rPr>
              <a:t>Enquiry › Report Enquiry — today: pick a report type and date range. Target: ask in plain language, see SQL + chart.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920240"/>
            <a:ext cx="4206240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2029968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Requirement · prompt → SQL  (20 Oct)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2340864"/>
            <a:ext cx="3913631" cy="914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Ask in plain language; </a:t>
            </a:r>
            <a:r>
              <a:rPr sz="900" b="0" i="0">
                <a:solidFill>
                  <a:srgbClr val="1A214D"/>
                </a:solidFill>
                <a:latin typeface="Lato"/>
              </a:rPr>
              <a:t>the system queries the database and returns the generated SQL with a visualization.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MCP: </a:t>
            </a:r>
            <a:r>
              <a:rPr sz="900" b="0" i="0">
                <a:solidFill>
                  <a:srgbClr val="1A214D"/>
                </a:solidFill>
                <a:latin typeface="Lato"/>
              </a:rPr>
              <a:t>Cathal — expose the capability to the bank through MCP.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456432"/>
            <a:ext cx="420624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1504" y="3566160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Market reality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3877056"/>
            <a:ext cx="3913631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≈80% </a:t>
            </a:r>
            <a:r>
              <a:rPr sz="900" b="0" i="0">
                <a:solidFill>
                  <a:srgbClr val="1A214D"/>
                </a:solidFill>
                <a:latin typeface="Lato"/>
              </a:rPr>
              <a:t>on academic leaderboards (BIRD) — but on real enterprise warehouses: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10.8% </a:t>
            </a:r>
            <a:r>
              <a:rPr sz="900" b="0" i="0">
                <a:solidFill>
                  <a:srgbClr val="1A214D"/>
                </a:solidFill>
                <a:latin typeface="Lato"/>
              </a:rPr>
              <a:t>execution accuracy (BEAVER, GPT-5.2 agents)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21.3% </a:t>
            </a:r>
            <a:r>
              <a:rPr sz="900" b="0" i="0">
                <a:solidFill>
                  <a:srgbClr val="1A214D"/>
                </a:solidFill>
                <a:latin typeface="Lato"/>
              </a:rPr>
              <a:t>on Spider 2.0 vs 91.2% on Spider 1.0. The schema is the bottleneck, not the model.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901184"/>
            <a:ext cx="4206240" cy="1362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1504" y="5010912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Hypothesis &amp;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5321808"/>
            <a:ext cx="3913631" cy="832104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Constrain: </a:t>
            </a:r>
            <a:r>
              <a:rPr sz="900" b="0" i="0">
                <a:solidFill>
                  <a:srgbClr val="1A214D"/>
                </a:solidFill>
                <a:latin typeface="Lato"/>
              </a:rPr>
              <a:t>curated reporting views + the report types already in Report Enquiry; SQL always visible; read-only replica.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Gate: </a:t>
            </a:r>
            <a:r>
              <a:rPr sz="900" b="0" i="0">
                <a:solidFill>
                  <a:srgbClr val="1A214D"/>
                </a:solidFill>
                <a:latin typeface="Lato"/>
              </a:rPr>
              <a:t>top report intents validated against analyst-written SQL before free-form prompts unlock. MCP serves the same governed layer — never raw tables.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3679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1A214D"/>
                </a:solidFill>
                <a:latin typeface="Lato"/>
              </a:rPr>
              <a:t>Sources: BEAVER (arXiv 2409.02038) · Spider 2.0 (ICLR 2025) · BIRD leaderboard (Gemini-SQL2 80.04%)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A214D"/>
                </a:solidFill>
                <a:latin typeface="Lato"/>
              </a:rPr>
              <a:t>APPRO – INTERNAL &amp; APPROVED DOMAINS | Controlled Distribution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74320"/>
            <a:ext cx="1280160" cy="3738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" y="493776"/>
            <a:ext cx="1640433" cy="274320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214D"/>
                </a:solidFill>
                <a:latin typeface="Lato"/>
              </a:rPr>
              <a:t>Document Validation </a:t>
            </a:r>
            <a:r>
              <a:rPr sz="2000" b="1" i="0">
                <a:solidFill>
                  <a:srgbClr val="3B7EF6"/>
                </a:solidFill>
                <a:latin typeface="Lato"/>
              </a:rPr>
              <a:t>— Checkers Review Exceptions, Not Everything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1A214D"/>
                </a:solidFill>
                <a:latin typeface="Lato"/>
              </a:rPr>
              <a:t>This document is classified as INTERNAL &amp; WHITELISTED | Sharing allowed only with approved external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1A214D"/>
                </a:solidFill>
                <a:latin typeface="Lato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9264"/>
            <a:ext cx="9921240" cy="749808"/>
          </a:xfrm>
          <a:prstGeom prst="roundRect">
            <a:avLst>
              <a:gd name="adj" fmla="val 18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9518904" cy="7498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200" b="1" i="0">
                <a:solidFill>
                  <a:srgbClr val="1A214D"/>
                </a:solidFill>
                <a:latin typeface="Lato"/>
              </a:rPr>
              <a:t>AI pre-checks every document so checkers spend their time on exceptions — not on 100% review.</a:t>
            </a:r>
          </a:p>
        </p:txBody>
      </p:sp>
      <p:pic>
        <p:nvPicPr>
          <p:cNvPr id="15" name="Picture 14" descr="05-document-set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6675120" cy="360873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43484" y="1906524"/>
            <a:ext cx="6702552" cy="3636168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592984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1A214D"/>
                </a:solidFill>
                <a:latin typeface="Lato"/>
              </a:rPr>
              <a:t>Document Management › Document Set Up — mandatory documents are already modelled per product and journey.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920240"/>
            <a:ext cx="4206240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2029968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Requirement · doc comparison  (20 Oct)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2340864"/>
            <a:ext cx="3913631" cy="914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Validate documents </a:t>
            </a:r>
            <a:r>
              <a:rPr sz="900" b="0" i="0">
                <a:solidFill>
                  <a:srgbClr val="1A214D"/>
                </a:solidFill>
                <a:latin typeface="Lato"/>
              </a:rPr>
              <a:t>in the new Document setup module — security cheques, source-of-income proofs, clearance letters — against application data before ops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456432"/>
            <a:ext cx="420624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1504" y="3566160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Market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3877056"/>
            <a:ext cx="3913631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Ocrolus: </a:t>
            </a:r>
            <a:r>
              <a:rPr sz="900" b="0" i="0">
                <a:solidFill>
                  <a:srgbClr val="1A214D"/>
                </a:solidFill>
                <a:latin typeface="Lato"/>
              </a:rPr>
              <a:t>classifies &amp; analyses 1,150+ financial document types with fraud-signal detection (vendor).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Informed.IQ: </a:t>
            </a:r>
            <a:r>
              <a:rPr sz="900" b="0" i="0">
                <a:solidFill>
                  <a:srgbClr val="1A214D"/>
                </a:solidFill>
                <a:latin typeface="Lato"/>
              </a:rPr>
              <a:t>automated stip verification; works with 7 of the top-10 US auto lenders (company-reported).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901184"/>
            <a:ext cx="4206240" cy="1362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1504" y="5010912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Feasibility &amp;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5321808"/>
            <a:ext cx="3913631" cy="832104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Task: </a:t>
            </a:r>
            <a:r>
              <a:rPr sz="900" b="0" i="0">
                <a:solidFill>
                  <a:srgbClr val="1A214D"/>
                </a:solidFill>
                <a:latin typeface="Lato"/>
              </a:rPr>
              <a:t>extract fields, compare to the application (amount, names, IBAN, dates), flag missing or inconsistent items into the ops Maker queue.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Dependency: </a:t>
            </a:r>
            <a:r>
              <a:rPr sz="900" b="0" i="0">
                <a:solidFill>
                  <a:srgbClr val="1A214D"/>
                </a:solidFill>
                <a:latin typeface="Lato"/>
              </a:rPr>
              <a:t>labelled document samples — the largest data gap. Gate: model agrees with checker verdicts on a labelled pilot 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3679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1A214D"/>
                </a:solidFill>
                <a:latin typeface="Lato"/>
              </a:rPr>
              <a:t>Sources: Ocrolus (vendor) · Informed.IQ (company-reported)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A214D"/>
                </a:solidFill>
                <a:latin typeface="Lato"/>
              </a:rPr>
              <a:t>APPRO – INTERNAL &amp; APPROVED DOMAINS | Controlled Distribution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74320"/>
            <a:ext cx="1280160" cy="3738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" y="493776"/>
            <a:ext cx="1640433" cy="274320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214D"/>
                </a:solidFill>
                <a:latin typeface="Lato"/>
              </a:rPr>
              <a:t>FEEL Assist </a:t>
            </a:r>
            <a:r>
              <a:rPr sz="2000" b="1" i="0">
                <a:solidFill>
                  <a:srgbClr val="3B7EF6"/>
                </a:solidFill>
                <a:latin typeface="Lato"/>
              </a:rPr>
              <a:t>— The Fastest Win On The List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1A214D"/>
                </a:solidFill>
                <a:latin typeface="Lato"/>
              </a:rPr>
              <a:t>This document is classified as INTERNAL &amp; WHITELISTED | Sharing allowed only with approved external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1A214D"/>
                </a:solidFill>
                <a:latin typeface="Lato"/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9264"/>
            <a:ext cx="9921240" cy="749808"/>
          </a:xfrm>
          <a:prstGeom prst="roundRect">
            <a:avLst>
              <a:gd name="adj" fmla="val 18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9518904" cy="7498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200" b="1" i="0">
                <a:solidFill>
                  <a:srgbClr val="1A214D"/>
                </a:solidFill>
                <a:latin typeface="Lato"/>
              </a:rPr>
              <a:t>The fastest win: FEEL has a formal grammar, a built-in validator — and users who struggle with it today.</a:t>
            </a:r>
          </a:p>
        </p:txBody>
      </p:sp>
      <p:pic>
        <p:nvPicPr>
          <p:cNvPr id="15" name="Picture 14" descr="04-calculated-vari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6675120" cy="360873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43484" y="1906524"/>
            <a:ext cx="6702552" cy="3636168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592984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1A214D"/>
                </a:solidFill>
                <a:latin typeface="Lato"/>
              </a:rPr>
              <a:t>Limit Assignment › Calculated Variable — DBR, MUEx, Max Eligibility: the formulas users build by hand today.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920240"/>
            <a:ext cx="4206240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2029968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Requirement · prompt → FEEL  (20 Oct)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2340864"/>
            <a:ext cx="3913631" cy="914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Write FEEL formulas from a prompt </a:t>
            </a:r>
            <a:r>
              <a:rPr sz="900" b="0" i="0">
                <a:solidFill>
                  <a:srgbClr val="1A214D"/>
                </a:solidFill>
                <a:latin typeface="Lato"/>
              </a:rPr>
              <a:t>in Limit Assignment › Calculated Variables — configuring them is too difficult for users today (Anto).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Use case 5 folds in: </a:t>
            </a:r>
            <a:r>
              <a:rPr sz="900" b="0" i="0">
                <a:solidFill>
                  <a:srgbClr val="1A214D"/>
                </a:solidFill>
                <a:latin typeface="Lato"/>
              </a:rPr>
              <a:t>create new Rule Engine variables with FEEL expressions.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456432"/>
            <a:ext cx="420624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1504" y="3566160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Technical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3877056"/>
            <a:ext cx="3913631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FEEL </a:t>
            </a:r>
            <a:r>
              <a:rPr sz="900" b="0" i="0">
                <a:solidFill>
                  <a:srgbClr val="1A214D"/>
                </a:solidFill>
                <a:latin typeface="Lato"/>
              </a:rPr>
              <a:t>is the DMN-standard expression language — a small formal grammar.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Constrained code generation </a:t>
            </a:r>
            <a:r>
              <a:rPr sz="900" b="0" i="0">
                <a:solidFill>
                  <a:srgbClr val="1A214D"/>
                </a:solidFill>
                <a:latin typeface="Lato"/>
              </a:rPr>
              <a:t>with instant parser validation is the most mature LLM pattern in production copilots.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901184"/>
            <a:ext cx="4206240" cy="1362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1504" y="5010912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Feasibility &amp;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5321808"/>
            <a:ext cx="3913631" cy="832104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Flow: </a:t>
            </a:r>
            <a:r>
              <a:rPr sz="900" b="0" i="0">
                <a:solidFill>
                  <a:srgbClr val="1A214D"/>
                </a:solidFill>
                <a:latin typeface="Lato"/>
              </a:rPr>
              <a:t>generate → parse → preview on sample values → save as Maker request.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Zero customer data to start: </a:t>
            </a:r>
            <a:r>
              <a:rPr sz="900" b="0" i="0">
                <a:solidFill>
                  <a:srgbClr val="1A214D"/>
                </a:solidFill>
                <a:latin typeface="Lato"/>
              </a:rPr>
              <a:t>ground on the existing formula library. Gate: BA panel signs off a replay of the current formulas from plain-language descriptions. Recommended v1.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3679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1A214D"/>
                </a:solidFill>
                <a:latin typeface="Lato"/>
              </a:rPr>
              <a:t>Sources: OMG DMN / FEEL specification · SMBP portal mirror (Appro build)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A214D"/>
                </a:solidFill>
                <a:latin typeface="Lato"/>
              </a:rPr>
              <a:t>APPRO – INTERNAL &amp; APPROVED DOMAINS | Controlled Distribution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74320"/>
            <a:ext cx="1280160" cy="3738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" y="493776"/>
            <a:ext cx="1640433" cy="274320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214D"/>
                </a:solidFill>
                <a:latin typeface="Lato"/>
              </a:rPr>
              <a:t>Solution Direction </a:t>
            </a:r>
            <a:r>
              <a:rPr sz="2000" b="1" i="0">
                <a:solidFill>
                  <a:srgbClr val="3B7EF6"/>
                </a:solidFill>
                <a:latin typeface="Lato"/>
              </a:rPr>
              <a:t>— One Model, Four Adapters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1A214D"/>
                </a:solidFill>
                <a:latin typeface="Lato"/>
              </a:rPr>
              <a:t>This document is classified as INTERNAL &amp; WHITELISTED | Sharing allowed only with approved external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1A214D"/>
                </a:solidFill>
                <a:latin typeface="Lato"/>
              </a:rPr>
              <a:t>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9264"/>
            <a:ext cx="9921240" cy="749808"/>
          </a:xfrm>
          <a:prstGeom prst="roundRect">
            <a:avLst>
              <a:gd name="adj" fmla="val 18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9518904" cy="7498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200" b="1" i="0">
                <a:solidFill>
                  <a:srgbClr val="1A214D"/>
                </a:solidFill>
                <a:latin typeface="Lato"/>
              </a:rPr>
              <a:t>One offline small language model behind all four use cases — the adapters differ, the controls stay the same.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74519"/>
            <a:ext cx="1691640" cy="914400"/>
          </a:xfrm>
          <a:prstGeom prst="roundRect">
            <a:avLst>
              <a:gd name="adj" fmla="val 15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39112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214D"/>
                </a:solidFill>
                <a:latin typeface="Lato"/>
              </a:rPr>
              <a:t>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350008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A214D"/>
                </a:solidFill>
                <a:latin typeface="Lato"/>
              </a:rPr>
              <a:t>in-module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0552" y="2167127"/>
            <a:ext cx="2834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3B7EF6"/>
                </a:solidFill>
                <a:latin typeface="Lato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1874519"/>
            <a:ext cx="1691640" cy="914400"/>
          </a:xfrm>
          <a:prstGeom prst="roundRect">
            <a:avLst>
              <a:gd name="adj" fmla="val 15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0592" y="2039112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214D"/>
                </a:solidFill>
                <a:latin typeface="Lato"/>
              </a:rPr>
              <a:t>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0592" y="2350008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A214D"/>
                </a:solidFill>
                <a:latin typeface="Lato"/>
              </a:rPr>
              <a:t>scope + PII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2" y="2167127"/>
            <a:ext cx="2834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3B7EF6"/>
                </a:solidFill>
                <a:latin typeface="Lato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874519"/>
            <a:ext cx="1691640" cy="914400"/>
          </a:xfrm>
          <a:prstGeom prst="roundRect">
            <a:avLst>
              <a:gd name="adj" fmla="val 15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0832" y="2039112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214D"/>
                </a:solidFill>
                <a:latin typeface="Lato"/>
              </a:rPr>
              <a:t>SLM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2350008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A214D"/>
                </a:solidFill>
                <a:latin typeface="Lato"/>
              </a:rPr>
              <a:t>offline · UAE-hosted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71032" y="2167127"/>
            <a:ext cx="2834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3B7EF6"/>
                </a:solidFill>
                <a:latin typeface="Lato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874519"/>
            <a:ext cx="1691640" cy="914400"/>
          </a:xfrm>
          <a:prstGeom prst="roundRect">
            <a:avLst>
              <a:gd name="adj" fmla="val 15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2039112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214D"/>
                </a:solidFill>
                <a:latin typeface="Lato"/>
              </a:rPr>
              <a:t>Task adapter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2350008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A214D"/>
                </a:solidFill>
                <a:latin typeface="Lato"/>
              </a:rPr>
              <a:t>rule · SQL · doc · FEEL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2167127"/>
            <a:ext cx="2834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3B7EF6"/>
                </a:solidFill>
                <a:latin typeface="Lato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1874519"/>
            <a:ext cx="1691640" cy="914400"/>
          </a:xfrm>
          <a:prstGeom prst="roundRect">
            <a:avLst>
              <a:gd name="adj" fmla="val 15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2039112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214D"/>
                </a:solidFill>
                <a:latin typeface="Lato"/>
              </a:rPr>
              <a:t>Validator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2350008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A214D"/>
                </a:solidFill>
                <a:latin typeface="Lato"/>
              </a:rPr>
              <a:t>parser · replay · match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2167127"/>
            <a:ext cx="2834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3B7EF6"/>
                </a:solidFill>
                <a:latin typeface="Lato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1874519"/>
            <a:ext cx="1691640" cy="914400"/>
          </a:xfrm>
          <a:prstGeom prst="roundRect">
            <a:avLst>
              <a:gd name="adj" fmla="val 15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31552" y="2039112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214D"/>
                </a:solidFill>
                <a:latin typeface="Lato"/>
              </a:rPr>
              <a:t>Maker-Checker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31552" y="2350008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A214D"/>
                </a:solidFill>
                <a:latin typeface="Lato"/>
              </a:rPr>
              <a:t>approve &amp; publish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246120"/>
            <a:ext cx="353568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3355848"/>
            <a:ext cx="3243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Model direction — Foundry SLM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" y="3666744"/>
            <a:ext cx="3243072" cy="198424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Shortlist from the Foundry small-model catalog </a:t>
            </a:r>
            <a:r>
              <a:rPr sz="900" b="0" i="0">
                <a:solidFill>
                  <a:srgbClr val="1A214D"/>
                </a:solidFill>
                <a:latin typeface="Lato"/>
              </a:rPr>
              <a:t>— e.g. the Phi-4 family: reported MIT-licensed and self-hostable (Foundry, Hugging Face, Ollama).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Verify licence and commercials </a:t>
            </a:r>
            <a:r>
              <a:rPr sz="900" b="0" i="0">
                <a:solidFill>
                  <a:srgbClr val="1A214D"/>
                </a:solidFill>
                <a:latin typeface="Lato"/>
              </a:rPr>
              <a:t>on the model card — Cathal's session output.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One base model, </a:t>
            </a:r>
            <a:r>
              <a:rPr sz="900" b="0" i="0">
                <a:solidFill>
                  <a:srgbClr val="1A214D"/>
                </a:solidFill>
                <a:latin typeface="Lato"/>
              </a:rPr>
              <a:t>per-task adapters — not four separate models.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21480" y="3246120"/>
            <a:ext cx="353568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67784" y="3355848"/>
            <a:ext cx="3243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Grounding vs fine-tuning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67784" y="3666744"/>
            <a:ext cx="3243072" cy="198424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Start with RAG + few-shot </a:t>
            </a:r>
            <a:r>
              <a:rPr sz="900" b="0" i="0">
                <a:solidFill>
                  <a:srgbClr val="1A214D"/>
                </a:solidFill>
                <a:latin typeface="Lato"/>
              </a:rPr>
              <a:t>on our own artefacts: attribute catalog, schema dictionary, formula library, document profiles.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Fine-tune only where evals prove a gap </a:t>
            </a:r>
            <a:r>
              <a:rPr sz="900" b="0" i="0">
                <a:solidFill>
                  <a:srgbClr val="1A214D"/>
                </a:solidFill>
                <a:latin typeface="Lato"/>
              </a:rPr>
              <a:t>— most likely prompt→rule and prompt→FEEL.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Each use case keeps its own eval set </a:t>
            </a:r>
            <a:r>
              <a:rPr sz="900" b="0" i="0">
                <a:solidFill>
                  <a:srgbClr val="1A214D"/>
                </a:solidFill>
                <a:latin typeface="Lato"/>
              </a:rPr>
              <a:t>— the go/no-go instrument per phase.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85760" y="3246120"/>
            <a:ext cx="353568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2064" y="3355848"/>
            <a:ext cx="3243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Reusable if we swap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2064" y="3666744"/>
            <a:ext cx="3243072" cy="198424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Model-agnostic: </a:t>
            </a:r>
            <a:r>
              <a:rPr sz="900" b="0" i="0">
                <a:solidFill>
                  <a:srgbClr val="1A214D"/>
                </a:solidFill>
                <a:latin typeface="Lato"/>
              </a:rPr>
              <a:t>prompts, task schemas, eval sets, guardrails, validators, UI.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Model-bound: </a:t>
            </a:r>
            <a:r>
              <a:rPr sz="900" b="0" i="0">
                <a:solidFill>
                  <a:srgbClr val="1A214D"/>
                </a:solidFill>
                <a:latin typeface="Lato"/>
              </a:rPr>
              <a:t>fine-tuned weights only.</a:t>
            </a:r>
          </a:p>
          <a:p>
            <a:pPr>
              <a:spcAft>
                <a:spcPts val="300"/>
              </a:spcAft>
            </a:pPr>
            <a:r>
              <a:rPr sz="900" b="1" i="0">
                <a:solidFill>
                  <a:srgbClr val="1A214D"/>
                </a:solidFill>
                <a:latin typeface="Lato"/>
              </a:rPr>
              <a:t>Swap the model tomorrow </a:t>
            </a:r>
            <a:r>
              <a:rPr sz="900" b="0" i="0">
                <a:solidFill>
                  <a:srgbClr val="1A214D"/>
                </a:solidFill>
                <a:latin typeface="Lato"/>
              </a:rPr>
              <a:t>and the training assets survive — the platform investment is protected.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33679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1A214D"/>
                </a:solidFill>
                <a:latin typeface="Lato"/>
              </a:rPr>
              <a:t>Sources: Azure AI Foundry / Phi model documentation (licence to be confirmed on model card)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A214D"/>
                </a:solidFill>
                <a:latin typeface="Lato"/>
              </a:rPr>
              <a:t>APPRO – INTERNAL &amp; APPROVED DOMAINS | Controlled Distribution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74320"/>
            <a:ext cx="1280160" cy="3738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" y="493776"/>
            <a:ext cx="1640433" cy="274320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214D"/>
                </a:solidFill>
                <a:latin typeface="Lato"/>
              </a:rPr>
              <a:t>Governance </a:t>
            </a:r>
            <a:r>
              <a:rPr sz="2000" b="1" i="0">
                <a:solidFill>
                  <a:srgbClr val="3B7EF6"/>
                </a:solidFill>
                <a:latin typeface="Lato"/>
              </a:rPr>
              <a:t>— Designed To Pass Review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1A214D"/>
                </a:solidFill>
                <a:latin typeface="Lato"/>
              </a:rPr>
              <a:t>This document is classified as INTERNAL &amp; WHITELISTED | Sharing allowed only with approved external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1A214D"/>
                </a:solidFill>
                <a:latin typeface="Lato"/>
              </a:rPr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9264"/>
            <a:ext cx="9921240" cy="749808"/>
          </a:xfrm>
          <a:prstGeom prst="roundRect">
            <a:avLst>
              <a:gd name="adj" fmla="val 18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9518904" cy="7498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200" b="1" i="0">
                <a:solidFill>
                  <a:srgbClr val="1A214D"/>
                </a:solidFill>
                <a:latin typeface="Lato"/>
              </a:rPr>
              <a:t>The CBUAE's Feb-2026 AI guidance maps directly onto maker-checker controls the portal already 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74519"/>
            <a:ext cx="53035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98424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CBUAE expectations (Feb 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2295144"/>
            <a:ext cx="5010912" cy="138988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Guidance Note on responsible AI/ML </a:t>
            </a:r>
            <a:r>
              <a:rPr sz="1000" b="0" i="0">
                <a:solidFill>
                  <a:srgbClr val="1A214D"/>
                </a:solidFill>
                <a:latin typeface="Lato"/>
              </a:rPr>
              <a:t>for licensed financial institutions: human oversight on high-impact decisions, validation before deployment, monitoring for model drift, periodic bias testing. Not legally binding — but the supervisory direction.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74519"/>
            <a:ext cx="53035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98424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Our answer, by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295144"/>
            <a:ext cx="5010912" cy="138988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AI stops at draft. </a:t>
            </a:r>
            <a:r>
              <a:rPr sz="1000" b="0" i="0">
                <a:solidFill>
                  <a:srgbClr val="1A214D"/>
                </a:solidFill>
                <a:latin typeface="Lato"/>
              </a:rPr>
              <a:t>Credit decisions stay deterministic in the Rule Engine; every AI-assisted change is a Maker request with checker approval; new policies run in shadow mode before production.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77639"/>
            <a:ext cx="53035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408736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Auditability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4398264"/>
            <a:ext cx="5010912" cy="138988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Log per change: </a:t>
            </a:r>
            <a:r>
              <a:rPr sz="1000" b="0" i="0">
                <a:solidFill>
                  <a:srgbClr val="1A214D"/>
                </a:solidFill>
                <a:latin typeface="Lato"/>
              </a:rPr>
              <a:t>prompt, model version, draft, validation result, approver.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Same maker-checker trail </a:t>
            </a:r>
            <a:r>
              <a:rPr sz="1000" b="0" i="0">
                <a:solidFill>
                  <a:srgbClr val="1A214D"/>
                </a:solidFill>
                <a:latin typeface="Lato"/>
              </a:rPr>
              <a:t>banks already audit — no new audit framework to invent.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77639"/>
            <a:ext cx="53035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408736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Data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4398264"/>
            <a:ext cx="5010912" cy="138988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Offline UAE hosting </a:t>
            </a:r>
            <a:r>
              <a:rPr sz="1000" b="0" i="0">
                <a:solidFill>
                  <a:srgbClr val="1A214D"/>
                </a:solidFill>
                <a:latin typeface="Lato"/>
              </a:rPr>
              <a:t>keeps bank data in-country.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Training data anonymised </a:t>
            </a:r>
            <a:r>
              <a:rPr sz="1000" b="0" i="0">
                <a:solidFill>
                  <a:srgbClr val="1A214D"/>
                </a:solidFill>
                <a:latin typeface="Lato"/>
              </a:rPr>
              <a:t>before any use — owned by the data-readiness workstream (slide 10).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3679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1A214D"/>
                </a:solidFill>
                <a:latin typeface="Lato"/>
              </a:rPr>
              <a:t>Sources: CBUAE Guidance Note on AI/ML (Feb 2026) — verify specifics against the original text before external 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A214D"/>
                </a:solidFill>
                <a:latin typeface="Lato"/>
              </a:rPr>
              <a:t>APPRO – INTERNAL &amp; APPROVED DOMAINS | Controlled Distribution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74320"/>
            <a:ext cx="1280160" cy="3738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" y="493776"/>
            <a:ext cx="1640433" cy="274320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214D"/>
                </a:solidFill>
                <a:latin typeface="Lato"/>
              </a:rPr>
              <a:t>Data Readiness </a:t>
            </a:r>
            <a:r>
              <a:rPr sz="2000" b="1" i="0">
                <a:solidFill>
                  <a:srgbClr val="3B7EF6"/>
                </a:solidFill>
                <a:latin typeface="Lato"/>
              </a:rPr>
              <a:t>— What We Have vs What Training Needs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1A214D"/>
                </a:solidFill>
                <a:latin typeface="Lato"/>
              </a:rPr>
              <a:t>This document is classified as INTERNAL &amp; WHITELISTED | Sharing allowed only with approved external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1A214D"/>
                </a:solidFill>
                <a:latin typeface="Lato"/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9264"/>
            <a:ext cx="9921240" cy="749808"/>
          </a:xfrm>
          <a:prstGeom prst="roundRect">
            <a:avLst>
              <a:gd name="adj" fmla="val 18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9518904" cy="7498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200" b="1" i="0">
                <a:solidFill>
                  <a:srgbClr val="1A214D"/>
                </a:solidFill>
                <a:latin typeface="Lato"/>
              </a:rPr>
              <a:t>Per Antofelix: Gurkirat + Hailey own data readiness — what we can ground on today, what training needs, and the gaps.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19202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291840"/>
                <a:gridCol w="3291840"/>
                <a:gridCol w="2743200"/>
              </a:tblGrid>
              <a:tr h="804672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</a:rPr>
                        <a:t>Use case</a:t>
                      </a:r>
                    </a:p>
                  </a:txBody>
                  <a:tcPr marL="73152" marR="73152" marT="45720" marB="45720" anchor="ctr">
                    <a:solidFill>
                      <a:srgbClr val="3B7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</a:rPr>
                        <a:t>Grounding — in the platform today</a:t>
                      </a:r>
                    </a:p>
                  </a:txBody>
                  <a:tcPr marL="73152" marR="73152" marT="45720" marB="45720" anchor="ctr">
                    <a:solidFill>
                      <a:srgbClr val="3B7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</a:rPr>
                        <a:t>Training / evaluation — needed</a:t>
                      </a:r>
                    </a:p>
                  </a:txBody>
                  <a:tcPr marL="73152" marR="73152" marT="45720" marB="45720" anchor="ctr">
                    <a:solidFill>
                      <a:srgbClr val="3B7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</a:rPr>
                        <a:t>Gap → action</a:t>
                      </a:r>
                    </a:p>
                  </a:txBody>
                  <a:tcPr marL="73152" marR="73152" marT="45720" marB="45720" anchor="ctr">
                    <a:solidFill>
                      <a:srgbClr val="3B7EF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A214D"/>
                          </a:solidFill>
                          <a:latin typeface="Lato"/>
                        </a:rPr>
                        <a:t>Policy Copilot</a:t>
                      </a:r>
                    </a:p>
                  </a:txBody>
                  <a:tcPr marL="73152" marR="73152" marT="45720" marB="45720" anchor="ctr">
                    <a:solidFill>
                      <a:srgbClr val="ED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A214D"/>
                          </a:solidFill>
                          <a:latin typeface="Lato"/>
                        </a:rPr>
                        <a:t>Rule Engine attribute catalog (~97 filtration attributes), segmentation &amp; strategy configs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A214D"/>
                          </a:solidFill>
                          <a:latin typeface="Lato"/>
                        </a:rPr>
                        <a:t>Historical applications + decision outcomes for replay; analyst prompt→rule pairs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A214D"/>
                          </a:solidFill>
                          <a:latin typeface="Lato"/>
                        </a:rPr>
                        <a:t>Anonymised extract of decisioned applications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A214D"/>
                          </a:solidFill>
                          <a:latin typeface="Lato"/>
                        </a:rPr>
                        <a:t>AI Reports</a:t>
                      </a:r>
                    </a:p>
                  </a:txBody>
                  <a:tcPr marL="73152" marR="73152" marT="45720" marB="45720" anchor="ctr">
                    <a:solidFill>
                      <a:srgbClr val="ED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A214D"/>
                          </a:solidFill>
                          <a:latin typeface="Lato"/>
                        </a:rPr>
                        <a:t>Report types + schemas behind Report Enquiry</a:t>
                      </a:r>
                    </a:p>
                  </a:txBody>
                  <a:tcPr marL="73152" marR="73152" marT="45720" marB="45720" anchor="ctr">
                    <a:solidFill>
                      <a:srgbClr val="ED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A214D"/>
                          </a:solidFill>
                          <a:latin typeface="Lato"/>
                        </a:rPr>
                        <a:t>Schema dictionary with business terms; analyst SQL for the top report intents</a:t>
                      </a:r>
                    </a:p>
                  </a:txBody>
                  <a:tcPr marL="73152" marR="73152" marT="45720" marB="45720" anchor="ctr">
                    <a:solidFill>
                      <a:srgbClr val="ED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A214D"/>
                          </a:solidFill>
                          <a:latin typeface="Lato"/>
                        </a:rPr>
                        <a:t>Build the semantic layer; collect a query corpus</a:t>
                      </a:r>
                    </a:p>
                  </a:txBody>
                  <a:tcPr marL="73152" marR="73152" marT="45720" marB="45720" anchor="ctr">
                    <a:solidFill>
                      <a:srgbClr val="EDF2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A214D"/>
                          </a:solidFill>
                          <a:latin typeface="Lato"/>
                        </a:rPr>
                        <a:t>Doc Validation</a:t>
                      </a:r>
                    </a:p>
                  </a:txBody>
                  <a:tcPr marL="73152" marR="73152" marT="45720" marB="45720" anchor="ctr">
                    <a:solidFill>
                      <a:srgbClr val="ED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A214D"/>
                          </a:solidFill>
                          <a:latin typeface="Lato"/>
                        </a:rPr>
                        <a:t>Document List &amp; Set Up profiles — document types per product and journey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A214D"/>
                          </a:solidFill>
                          <a:latin typeface="Lato"/>
                        </a:rPr>
                        <a:t>Labelled samples: security cheques, SOI proofs, clearance letters (accepted + rejected)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A214D"/>
                          </a:solidFill>
                          <a:latin typeface="Lato"/>
                        </a:rPr>
                        <a:t>Largest gap — start collection through ops queues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A214D"/>
                          </a:solidFill>
                          <a:latin typeface="Lato"/>
                        </a:rPr>
                        <a:t>FEEL Assist</a:t>
                      </a:r>
                    </a:p>
                  </a:txBody>
                  <a:tcPr marL="73152" marR="73152" marT="45720" marB="45720" anchor="ctr">
                    <a:solidFill>
                      <a:srgbClr val="ED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A214D"/>
                          </a:solidFill>
                          <a:latin typeface="Lato"/>
                        </a:rPr>
                        <a:t>Live formula library (calculated variables per product)</a:t>
                      </a:r>
                    </a:p>
                  </a:txBody>
                  <a:tcPr marL="73152" marR="73152" marT="45720" marB="45720" anchor="ctr">
                    <a:solidFill>
                      <a:srgbClr val="ED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A214D"/>
                          </a:solidFill>
                          <a:latin typeface="Lato"/>
                        </a:rPr>
                        <a:t>Prompt→FEEL pairs from BA / analyst sessions</a:t>
                      </a:r>
                    </a:p>
                  </a:txBody>
                  <a:tcPr marL="73152" marR="73152" marT="45720" marB="45720" anchor="ctr">
                    <a:solidFill>
                      <a:srgbClr val="ED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A214D"/>
                          </a:solidFill>
                          <a:latin typeface="Lato"/>
                        </a:rPr>
                        <a:t>Smallest gap — compile from existing configs</a:t>
                      </a:r>
                    </a:p>
                  </a:txBody>
                  <a:tcPr marL="73152" marR="73152" marT="45720" marB="45720" anchor="ctr">
                    <a:solidFill>
                      <a:srgbClr val="ED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A214D"/>
                </a:solidFill>
                <a:latin typeface="Lato"/>
              </a:rPr>
              <a:t>APPRO – INTERNAL &amp; APPROVED DOMAINS | Controlled Distribution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74320"/>
            <a:ext cx="1280160" cy="3738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" y="493776"/>
            <a:ext cx="1640433" cy="274320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214D"/>
                </a:solidFill>
                <a:latin typeface="Lato"/>
              </a:rPr>
              <a:t>Proof Plan </a:t>
            </a:r>
            <a:r>
              <a:rPr sz="2000" b="1" i="0">
                <a:solidFill>
                  <a:srgbClr val="3B7EF6"/>
                </a:solidFill>
                <a:latin typeface="Lato"/>
              </a:rPr>
              <a:t>— Hypothesis, Experiment, Gate Per Use Case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1A214D"/>
                </a:solidFill>
                <a:latin typeface="Lato"/>
              </a:rPr>
              <a:t>This document is classified as INTERNAL &amp; WHITELISTED | Sharing allowed only with approved external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1A214D"/>
                </a:solidFill>
                <a:latin typeface="Lato"/>
              </a:rPr>
              <a:t>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9264"/>
            <a:ext cx="9921240" cy="749808"/>
          </a:xfrm>
          <a:prstGeom prst="roundRect">
            <a:avLst>
              <a:gd name="adj" fmla="val 18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9518904" cy="7498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200" b="1" i="0">
                <a:solidFill>
                  <a:srgbClr val="1A214D"/>
                </a:solidFill>
                <a:latin typeface="Lato"/>
              </a:rPr>
              <a:t>No feature ships on belief — each one carries a hypothesis, an experiment on our own data, and a pass gate agreed up front.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965960"/>
            <a:ext cx="53035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07568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FEEL Assist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2386584"/>
            <a:ext cx="5010912" cy="129844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Hypothesis — </a:t>
            </a:r>
            <a:r>
              <a:rPr sz="1000" b="0" i="0">
                <a:solidFill>
                  <a:srgbClr val="1A214D"/>
                </a:solidFill>
                <a:latin typeface="Lato"/>
              </a:rPr>
              <a:t>prompt → FEEL is valid and correct for the formulas our users actually build.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Experiment — </a:t>
            </a:r>
            <a:r>
              <a:rPr sz="1000" b="0" i="0">
                <a:solidFill>
                  <a:srgbClr val="1A214D"/>
                </a:solidFill>
                <a:latin typeface="Lato"/>
              </a:rPr>
              <a:t>replay the existing formula library from plain-language descriptions; score with parser + value preview.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Gate — </a:t>
            </a:r>
            <a:r>
              <a:rPr sz="1000" b="0" i="0">
                <a:solidFill>
                  <a:srgbClr val="1A214D"/>
                </a:solidFill>
                <a:latin typeface="Lato"/>
              </a:rPr>
              <a:t>BA panel signs off accuracy on the replay 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53035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207568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AI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386584"/>
            <a:ext cx="5010912" cy="129844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Hypothesis — </a:t>
            </a:r>
            <a:r>
              <a:rPr sz="1000" b="0" i="0">
                <a:solidFill>
                  <a:srgbClr val="1A214D"/>
                </a:solidFill>
                <a:latin typeface="Lato"/>
              </a:rPr>
              <a:t>on a curated semantic layer, prompt → SQL matches analyst SQL for the top report intents.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Experiment — </a:t>
            </a:r>
            <a:r>
              <a:rPr sz="1000" b="0" i="0">
                <a:solidFill>
                  <a:srgbClr val="1A214D"/>
                </a:solidFill>
                <a:latin typeface="Lato"/>
              </a:rPr>
              <a:t>blind comparison of model vs analyst SQL on the agreed intent list; score result-set equality.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Gate — </a:t>
            </a:r>
            <a:r>
              <a:rPr sz="1000" b="0" i="0">
                <a:solidFill>
                  <a:srgbClr val="1A214D"/>
                </a:solidFill>
                <a:latin typeface="Lato"/>
              </a:rPr>
              <a:t>the agreed intent list passes before free-form prompts unlock.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53035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413308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Policy Copilot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4443984"/>
            <a:ext cx="5010912" cy="129844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Hypothesis — </a:t>
            </a:r>
            <a:r>
              <a:rPr sz="1000" b="0" i="0">
                <a:solidFill>
                  <a:srgbClr val="1A214D"/>
                </a:solidFill>
                <a:latin typeface="Lato"/>
              </a:rPr>
              <a:t>prompts reproduce intended policy changes without manual rule editing.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Experiment — </a:t>
            </a:r>
            <a:r>
              <a:rPr sz="1000" b="0" i="0">
                <a:solidFill>
                  <a:srgbClr val="1A214D"/>
                </a:solidFill>
                <a:latin typeface="Lato"/>
              </a:rPr>
              <a:t>re-create past policy CRs from their business descriptions; diff against shipped rules; replay the back-test.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Gate — </a:t>
            </a:r>
            <a:r>
              <a:rPr sz="1000" b="0" i="0">
                <a:solidFill>
                  <a:srgbClr val="1A214D"/>
                </a:solidFill>
                <a:latin typeface="Lato"/>
              </a:rPr>
              <a:t>diff-clean on the CR set, then a shadow pilot on one product.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023360"/>
            <a:ext cx="53035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413308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Document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4443984"/>
            <a:ext cx="5010912" cy="129844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Hypothesis — </a:t>
            </a:r>
            <a:r>
              <a:rPr sz="1000" b="0" i="0">
                <a:solidFill>
                  <a:srgbClr val="1A214D"/>
                </a:solidFill>
                <a:latin typeface="Lato"/>
              </a:rPr>
              <a:t>the model matches checker verdicts on real document sets.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Experiment — </a:t>
            </a:r>
            <a:r>
              <a:rPr sz="1000" b="0" i="0">
                <a:solidFill>
                  <a:srgbClr val="1A214D"/>
                </a:solidFill>
                <a:latin typeface="Lato"/>
              </a:rPr>
              <a:t>run the labelled pilot corpus through extraction + comparison; confusion matrix vs ops decisions.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Gate — </a:t>
            </a:r>
            <a:r>
              <a:rPr sz="1000" b="0" i="0">
                <a:solidFill>
                  <a:srgbClr val="1A214D"/>
                </a:solidFill>
                <a:latin typeface="Lato"/>
              </a:rPr>
              <a:t>checker-agreement threshold set with ops before any rollout.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A214D"/>
                </a:solidFill>
                <a:latin typeface="Lato"/>
              </a:rPr>
              <a:t>APPRO – INTERNAL &amp; APPROVED DOMAINS | Controlled Distribution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74320"/>
            <a:ext cx="1280160" cy="3738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" y="493776"/>
            <a:ext cx="1640433" cy="274320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214D"/>
                </a:solidFill>
                <a:latin typeface="Lato"/>
              </a:rPr>
              <a:t>Delivery Sequence </a:t>
            </a:r>
            <a:r>
              <a:rPr sz="2000" b="1" i="0">
                <a:solidFill>
                  <a:srgbClr val="3B7EF6"/>
                </a:solidFill>
                <a:latin typeface="Lato"/>
              </a:rPr>
              <a:t>— Ordered By Data Readiness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1A214D"/>
                </a:solidFill>
                <a:latin typeface="Lato"/>
              </a:rPr>
              <a:t>This document is classified as INTERNAL &amp; WHITELISTED | Sharing allowed only with approved external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1A214D"/>
                </a:solidFill>
                <a:latin typeface="Lato"/>
              </a:rPr>
              <a:t>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9264"/>
            <a:ext cx="9921240" cy="749808"/>
          </a:xfrm>
          <a:prstGeom prst="roundRect">
            <a:avLst>
              <a:gd name="adj" fmla="val 18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9518904" cy="7498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200" b="1" i="0">
                <a:solidFill>
                  <a:srgbClr val="1A214D"/>
                </a:solidFill>
                <a:latin typeface="Lato"/>
              </a:rPr>
              <a:t>Sequence by data readiness, not by appeal — each phase ships a working feature and unblocks the next.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74519"/>
            <a:ext cx="1975104" cy="1143000"/>
          </a:xfrm>
          <a:prstGeom prst="roundRect">
            <a:avLst>
              <a:gd name="adj" fmla="val 12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84248"/>
            <a:ext cx="179222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A214D"/>
                </a:solidFill>
                <a:latin typeface="Lato"/>
              </a:rPr>
              <a:t>PHASE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203703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14D"/>
                </a:solidFill>
                <a:latin typeface="Lato"/>
              </a:rPr>
              <a:t>Foundations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1460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A214D"/>
                </a:solidFill>
                <a:latin typeface="Lato"/>
              </a:rPr>
              <a:t>model shortlist · UAE hosting · 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4872" y="2286000"/>
            <a:ext cx="301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B7EF6"/>
                </a:solidFill>
                <a:latin typeface="Lato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60904" y="1874519"/>
            <a:ext cx="1975104" cy="1143000"/>
          </a:xfrm>
          <a:prstGeom prst="roundRect">
            <a:avLst>
              <a:gd name="adj" fmla="val 12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52344" y="1984248"/>
            <a:ext cx="179222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B7EF6"/>
                </a:solidFill>
                <a:latin typeface="Lato"/>
              </a:rPr>
              <a:t>PHASE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52344" y="2203703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14D"/>
                </a:solidFill>
                <a:latin typeface="Lato"/>
              </a:rPr>
              <a:t>FEEL Assist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52344" y="251460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A214D"/>
                </a:solidFill>
                <a:latin typeface="Lato"/>
              </a:rPr>
              <a:t>smallest data gap — proves the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2286000"/>
            <a:ext cx="301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B7EF6"/>
                </a:solidFill>
                <a:latin typeface="Lato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64608" y="1874519"/>
            <a:ext cx="1975104" cy="1143000"/>
          </a:xfrm>
          <a:prstGeom prst="roundRect">
            <a:avLst>
              <a:gd name="adj" fmla="val 12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1984248"/>
            <a:ext cx="179222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B7EF6"/>
                </a:solidFill>
                <a:latin typeface="Lato"/>
              </a:rPr>
              <a:t>PHASE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2203703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14D"/>
                </a:solidFill>
                <a:latin typeface="Lato"/>
              </a:rPr>
              <a:t>AI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251460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A214D"/>
                </a:solidFill>
                <a:latin typeface="Lato"/>
              </a:rPr>
              <a:t>needs the semantic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286000"/>
            <a:ext cx="301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B7EF6"/>
                </a:solidFill>
                <a:latin typeface="Lato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68312" y="1874519"/>
            <a:ext cx="1975104" cy="1143000"/>
          </a:xfrm>
          <a:prstGeom prst="roundRect">
            <a:avLst>
              <a:gd name="adj" fmla="val 12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59752" y="1984248"/>
            <a:ext cx="179222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B7EF6"/>
                </a:solidFill>
                <a:latin typeface="Lato"/>
              </a:rPr>
              <a:t>PHASE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2" y="2203703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14D"/>
                </a:solidFill>
                <a:latin typeface="Lato"/>
              </a:rPr>
              <a:t>Policy Copilot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9752" y="251460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A214D"/>
                </a:solidFill>
                <a:latin typeface="Lato"/>
              </a:rPr>
              <a:t>needs replay + shadow infra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5984" y="2286000"/>
            <a:ext cx="301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B7EF6"/>
                </a:solidFill>
                <a:latin typeface="Lato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72016" y="1874519"/>
            <a:ext cx="1975104" cy="1143000"/>
          </a:xfrm>
          <a:prstGeom prst="roundRect">
            <a:avLst>
              <a:gd name="adj" fmla="val 12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63456" y="1984248"/>
            <a:ext cx="179222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B7EF6"/>
                </a:solidFill>
                <a:latin typeface="Lato"/>
              </a:rPr>
              <a:t>PHASE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456" y="2203703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14D"/>
                </a:solidFill>
                <a:latin typeface="Lato"/>
              </a:rPr>
              <a:t>Doc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3456" y="251460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A214D"/>
                </a:solidFill>
                <a:latin typeface="Lato"/>
              </a:rPr>
              <a:t>needs the labelled corpus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429000"/>
            <a:ext cx="3535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3538728"/>
            <a:ext cx="3243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Cathal — solution &amp;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" y="3849624"/>
            <a:ext cx="3243072" cy="93268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 i="0">
                <a:solidFill>
                  <a:srgbClr val="1A214D"/>
                </a:solidFill>
                <a:latin typeface="Lato"/>
              </a:rPr>
              <a:t>Leads agenda §3–6: </a:t>
            </a:r>
            <a:r>
              <a:rPr sz="950" b="0" i="0">
                <a:solidFill>
                  <a:srgbClr val="1A214D"/>
                </a:solidFill>
                <a:latin typeface="Lato"/>
              </a:rPr>
              <a:t>recommended direction, Foundry model shortlist, hosting &amp; running cost, licence and procurement answers.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21480" y="3429000"/>
            <a:ext cx="3535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67784" y="3538728"/>
            <a:ext cx="3243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Gurkirat + Hailey — data readiness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67784" y="3849624"/>
            <a:ext cx="3243072" cy="93268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 i="0">
                <a:solidFill>
                  <a:srgbClr val="1A214D"/>
                </a:solidFill>
                <a:latin typeface="Lato"/>
              </a:rPr>
              <a:t>Dataset inventory and gap list </a:t>
            </a:r>
            <a:r>
              <a:rPr sz="950" b="0" i="0">
                <a:solidFill>
                  <a:srgbClr val="1A214D"/>
                </a:solidFill>
                <a:latin typeface="Lato"/>
              </a:rPr>
              <a:t>per slide 10: which tables and datasets exist for training and grounding, anonymisation approach, collection plan for the gaps.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85760" y="3429000"/>
            <a:ext cx="3535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2064" y="3538728"/>
            <a:ext cx="3243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Antofelix — objective &amp; tracking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2064" y="3849624"/>
            <a:ext cx="3243072" cy="93268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 i="0">
                <a:solidFill>
                  <a:srgbClr val="1A214D"/>
                </a:solidFill>
                <a:latin typeface="Lato"/>
              </a:rPr>
              <a:t>Objective and use-case recap; </a:t>
            </a:r>
            <a:r>
              <a:rPr sz="950" b="0" i="0">
                <a:solidFill>
                  <a:srgbClr val="1A214D"/>
                </a:solidFill>
                <a:latin typeface="Lato"/>
              </a:rPr>
              <a:t>the session output is a sequenced activity plan — owner and target date per activity, tracked.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166360"/>
            <a:ext cx="11064240" cy="685800"/>
          </a:xfrm>
          <a:prstGeom prst="roundRect">
            <a:avLst>
              <a:gd name="adj" fmla="val 18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166360"/>
            <a:ext cx="10661904" cy="6858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200" b="1" i="0">
                <a:solidFill>
                  <a:srgbClr val="1A214D"/>
                </a:solidFill>
                <a:latin typeface="Lato"/>
              </a:rPr>
              <a:t>Dates: the technical session puts an owner and a target date on every activity — the sequence and dependencies above are what we lock today.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A214D"/>
                </a:solidFill>
                <a:latin typeface="Lato"/>
              </a:rPr>
              <a:t>APPRO – INTERNAL &amp; APPROVED DOMAINS | Controlled Distribution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74320"/>
            <a:ext cx="1280160" cy="3738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" y="493776"/>
            <a:ext cx="1640433" cy="274320"/>
          </a:xfrm>
          <a:prstGeom prst="roundRect">
            <a:avLst>
              <a:gd name="adj" fmla="val 50000"/>
            </a:avLst>
          </a:prstGeom>
          <a:solidFill>
            <a:srgbClr val="FDB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214D"/>
                </a:solidFill>
                <a:latin typeface="Lato"/>
              </a:rPr>
              <a:t>Decision </a:t>
            </a:r>
            <a:r>
              <a:rPr sz="2000" b="1" i="0">
                <a:solidFill>
                  <a:srgbClr val="3B7EF6"/>
                </a:solidFill>
                <a:latin typeface="Lato"/>
              </a:rPr>
              <a:t>&amp; Next Steps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6473952"/>
            <a:ext cx="164592" cy="164592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1A214D"/>
                </a:solidFill>
                <a:latin typeface="Lato"/>
              </a:rPr>
              <a:t>This document is classified as INTERNAL &amp; WHITELISTED | Sharing allowed only with approved external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1A214D"/>
                </a:solidFill>
                <a:latin typeface="Lato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9264"/>
            <a:ext cx="9921240" cy="749808"/>
          </a:xfrm>
          <a:prstGeom prst="roundRect">
            <a:avLst>
              <a:gd name="adj" fmla="val 18000"/>
            </a:avLst>
          </a:prstGeom>
          <a:solidFill>
            <a:srgbClr val="EDF2FF"/>
          </a:solidFill>
          <a:ln w="9525">
            <a:solidFill>
              <a:srgbClr val="3B7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9518904" cy="7498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200" b="1" i="0">
                <a:solidFill>
                  <a:srgbClr val="1A214D"/>
                </a:solidFill>
                <a:latin typeface="Lato"/>
              </a:rPr>
              <a:t>Asking today: approve the four-feature scope and the delivery sequence — dates follow the technical session.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11680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139696"/>
            <a:ext cx="274320" cy="274320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1534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2167128"/>
            <a:ext cx="4645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Approve scope &amp; 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2432304"/>
            <a:ext cx="5010912" cy="88696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Four AI features, phased by data readiness </a:t>
            </a:r>
            <a:r>
              <a:rPr sz="1000" b="0" i="0">
                <a:solidFill>
                  <a:srgbClr val="1A214D"/>
                </a:solidFill>
                <a:latin typeface="Lato"/>
              </a:rPr>
              <a:t>(slide 12). Use case 5 delivered inside FEEL Assist.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2139696"/>
            <a:ext cx="274320" cy="274320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1534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3" y="2167128"/>
            <a:ext cx="4645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Run the technical 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432304"/>
            <a:ext cx="5010912" cy="88696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Cathal returns the model shortlist, </a:t>
            </a:r>
            <a:r>
              <a:rPr sz="1000" b="0" i="0">
                <a:solidFill>
                  <a:srgbClr val="1A214D"/>
                </a:solidFill>
                <a:latin typeface="Lato"/>
              </a:rPr>
              <a:t>hosting, cost and licence answers — dates then land on the plan.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03320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3504" y="3831336"/>
            <a:ext cx="274320" cy="274320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38450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3858768"/>
            <a:ext cx="4645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Start the data-readiness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4123944"/>
            <a:ext cx="5010912" cy="88696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Gurkirat + Hailey deliver the dataset inventory </a:t>
            </a:r>
            <a:r>
              <a:rPr sz="1000" b="0" i="0">
                <a:solidFill>
                  <a:srgbClr val="1A214D"/>
                </a:solidFill>
                <a:latin typeface="Lato"/>
              </a:rPr>
              <a:t>and gap list (slide 10) as a tracked workstream.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703320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64224" y="3831336"/>
            <a:ext cx="274320" cy="274320"/>
          </a:xfrm>
          <a:prstGeom prst="ellipse">
            <a:avLst/>
          </a:prstGeom>
          <a:solidFill>
            <a:srgbClr val="3B7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38450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ato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3" y="3858768"/>
            <a:ext cx="4645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B7EF6"/>
                </a:solidFill>
                <a:latin typeface="Lato"/>
              </a:rPr>
              <a:t>Spec v1 — FEEL Assist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4123944"/>
            <a:ext cx="5010912" cy="88696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214D"/>
                </a:solidFill>
                <a:latin typeface="Lato"/>
              </a:rPr>
              <a:t>UX spec for the prompt experience </a:t>
            </a:r>
            <a:r>
              <a:rPr sz="1000" b="0" i="0">
                <a:solidFill>
                  <a:srgbClr val="1A214D"/>
                </a:solidFill>
                <a:latin typeface="Lato"/>
              </a:rPr>
              <a:t>in Limit Assignment › Calculated Variables; the same pattern then reuses across all four modules.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235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A214D"/>
                </a:solidFill>
                <a:latin typeface="Lato"/>
              </a:rPr>
              <a:t>On approval: a clickable walkthrough of the four features inside the portal will be shared as a link.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4114800"/>
            <a:ext cx="5486400" cy="5486400"/>
          </a:xfrm>
          <a:prstGeom prst="ellipse">
            <a:avLst/>
          </a:prstGeom>
          <a:solidFill>
            <a:srgbClr val="1A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214D"/>
                </a:solidFill>
                <a:latin typeface="Lato"/>
              </a:rPr>
              <a:t>Thank you</a:t>
            </a:r>
          </a:p>
        </p:txBody>
      </p:sp>
      <p:pic>
        <p:nvPicPr>
          <p:cNvPr id="4" name="Picture 3" descr="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1828800" cy="534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58368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1A214D"/>
                </a:solidFill>
                <a:latin typeface="Lato"/>
              </a:rPr>
              <a:t>This is not a legally binding document. Highly confidential — not to be shared without written consent.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Enablement in the Super Portal — Feature Proposal</dc:title>
  <dc:subject/>
  <dc:creator>Appro Product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