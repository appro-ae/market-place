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of the approved feature: every Sale user carries a Sale Agent Code; applications are tagged to it; enquiry visibility follows the reporting hierarchy; every other department keeps full visibility.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 left to right. The yellow banner is the design principle the CPO asked for: department-driven, no new permission.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audiences, one rule. Emphasise that operations lose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capture points feed one attribution rule. Stress "latest matching value wins" and that untagged cases are a normal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 on the live portal layout. Point out the lock on the code and the multi-select manager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screens the admins use today, two columns richer.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scope pill at the top of the wireframe explains what the logged-in manager sees.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a sales manager or ops user sees on the case. Right: what the Checker approves.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side, admin side, operations side: the three edges of the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benefit on each card; the proof line underneath comes straight from the approved acceptance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tickets to raise before development starts; the rest is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114800"/>
            <a:ext cx="5486400" cy="54864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009816"/>
            <a:ext cx="1327709" cy="758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8995" y="1342180"/>
            <a:ext cx="163267" cy="163267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5" name="Shape 3"/>
          <p:cNvSpPr/>
          <p:nvPr/>
        </p:nvSpPr>
        <p:spPr>
          <a:xfrm>
            <a:off x="2236684" y="1342180"/>
            <a:ext cx="163267" cy="163267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6" name="Shape 4"/>
          <p:cNvSpPr/>
          <p:nvPr/>
        </p:nvSpPr>
        <p:spPr>
          <a:xfrm>
            <a:off x="2454373" y="1342180"/>
            <a:ext cx="163267" cy="163267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7" name="Shape 5"/>
          <p:cNvSpPr/>
          <p:nvPr/>
        </p:nvSpPr>
        <p:spPr>
          <a:xfrm>
            <a:off x="2761859" y="1342180"/>
            <a:ext cx="163267" cy="163267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Onboarding Powerhouse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688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 Agent Code &amp; Reporting Hierarchy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visibility and case attribution for the Bank Portal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43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 demo · SMBP V3 Bank Portal · Story AMP-2548 (approved 06/09/2026)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 Onboarding Solutions FZ-LLC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07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7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6612"/>
            <a:ext cx="724205" cy="413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68019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86759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05498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473218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· Business Workflow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user setup to reporting, in five steps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835640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055096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274552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84534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 – INTERNAL &amp; APPROVED DOMAINS | Controlled Distribution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51261"/>
            <a:ext cx="905256" cy="51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9144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587568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735993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945642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493776"/>
            <a:ext cx="1640434" cy="274320"/>
          </a:xfrm>
          <a:prstGeom prst="roundRect">
            <a:avLst>
              <a:gd name="adj" fmla="val 26667"/>
            </a:avLst>
          </a:prstGeom>
          <a:solidFill>
            <a:srgbClr val="FDBA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</a:t>
            </a:r>
            <a:pPr algn="l" indent="0" marL="0">
              <a:buNone/>
            </a:pPr>
            <a:r>
              <a:rPr lang="en-US" sz="20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Workflow · from setup to reporting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214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document is classified as INTERNAL &amp; WHITELISTED | Sharing allowed only with approved external domains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0972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1234440"/>
            <a:ext cx="347472" cy="34747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1234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BANK ADMIN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16642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Set up the Sale user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0116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the user with Department = Sale, a Sale Agent Code and one or more Reporting Managers. Maker/Checker approves.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313432" y="19659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2514600" y="10972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1234440"/>
            <a:ext cx="347472" cy="34747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65176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063240" y="1234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 JOURNEY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16642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Capture the code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651760" y="20116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code travels with the application: the UTM link (sale_agent_code) or the Referral Code pop-up the customer fills in.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370832" y="19659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572000" y="10972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234440"/>
            <a:ext cx="347472" cy="34747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0916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0" y="1234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· SUBMISSION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4709160" y="16642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Tag the case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709160" y="20116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latest captured code that matches an active Sale user wins. No match: sales round-robin where a pool exists, otherwise untagged.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28232" y="19659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6629400" y="10972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1234440"/>
            <a:ext cx="347472" cy="34747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76656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178040" y="1234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STAFF &amp; MANAGERS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6766560" y="16642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See your own book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766560" y="20116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Staff see the cases tagged to them. Managers see their whole reporting subtree, at any depth, in real time.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485632" y="19659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›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8686800" y="10972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23960" y="1234440"/>
            <a:ext cx="347472" cy="34747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82396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235440" y="1234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OPERATIONS &amp; OTHERS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8823960" y="16642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 the bank as today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8823960" y="20116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department outside Sale keeps full visibility, untagged cases included. Reports and exports follow the same scope.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361188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EDF2FF"/>
          </a:solidFill>
          <a:ln w="12700">
            <a:solidFill>
              <a:srgbClr val="FDBA2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" y="36118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rule behind it: Department = Sale switches everything on. Sale users get a Sale Agent Code and Reporting Manager; every other department keeps full visibility through the permissions it already has. No new permission, no migration grant.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57200" y="45262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94360" y="46360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Maker/Checker on every change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594360" y="502920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 Agent Code and Reporting Manager follow the standard flow; uniqueness and cycle checks re-run at Checker approval.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251960" y="45262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389120" y="46360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Tag set once, audited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4389120" y="502920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Attribution is fixed at submission and never reassigned. Raw value, resolved code and source are stored with each application.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046720" y="45262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183880" y="46360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Same scope everywhere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8183880" y="502920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Application Enquiry, Report Enquiry and exports apply the same pre-filter before every other filter.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 – INTERNAL &amp; APPROVED DOMAINS | Controlled Distribution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51261"/>
            <a:ext cx="905256" cy="51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9144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587568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735993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945642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493776"/>
            <a:ext cx="1640434" cy="274320"/>
          </a:xfrm>
          <a:prstGeom prst="roundRect">
            <a:avLst>
              <a:gd name="adj" fmla="val 26667"/>
            </a:avLst>
          </a:prstGeom>
          <a:solidFill>
            <a:srgbClr val="FDBA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Who Sees</a:t>
            </a:r>
            <a:pPr algn="l" indent="0" marL="0">
              <a:buNone/>
            </a:pPr>
            <a:r>
              <a:rPr lang="en-US" sz="20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What · visibility by role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214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document is classified as INTERNAL &amp; WHITELISTED | Sharing allowed only with approved external domains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040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219456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Role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Department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Application Enquiry &amp; Report Enquiry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What changes for them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Sales staff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Sale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Own tagged applications only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Own book of business; IM005 "No results found" until the first tagged case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Sales manager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Sale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Own cases plus every user in the reporting subtree, unlimited depth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Several managers per user are allowed; each manager sees the user's cases; updates in real time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Operations, Credit, Admin, others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Any other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All applications, including untagged ones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Nothing: the existing View permission applies, no new permission, no migration grant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772400" y="1097280"/>
            <a:ext cx="3017520" cy="320040"/>
          </a:xfrm>
          <a:prstGeom prst="roundRect">
            <a:avLst>
              <a:gd name="adj" fmla="val 17143"/>
            </a:avLst>
          </a:prstGeom>
          <a:solidFill>
            <a:srgbClr val="3B7EF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hierarchy, unlimited depth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458200" y="2139696"/>
            <a:ext cx="0" cy="877824"/>
          </a:xfrm>
          <a:prstGeom prst="line">
            <a:avLst/>
          </a:prstGeom>
          <a:noFill/>
          <a:ln w="19050">
            <a:solidFill>
              <a:srgbClr val="3B7E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>
            <a:off x="8458200" y="2139696"/>
            <a:ext cx="1645920" cy="877824"/>
          </a:xfrm>
          <a:prstGeom prst="line">
            <a:avLst/>
          </a:prstGeom>
          <a:noFill/>
          <a:ln w="19050">
            <a:solidFill>
              <a:srgbClr val="3B7EF6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7772400" y="1737360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0" y="17373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Jane Smith · Manager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418320" y="1737360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418320" y="17373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John Doe · Manager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772400" y="3017520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0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Alice Rahman · Staff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418320" y="3017520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418320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Khalid · Credit Ops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Alice reports to Jane (solid) and to John (dashed): both see her cases. Khalid is in Credit Operations, has no code and sees everything.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452628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EDF2FF"/>
          </a:solidFill>
          <a:ln w="12700">
            <a:solidFill>
              <a:srgbClr val="3B7EF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45262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Visibility scope (Department, Sale Agent Code, reporting subtree) is evaluated server-side from the user record on every request. A manager change or a department change takes effect on the next request, never on the next login.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57200" y="539496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94360" y="55046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 staff and managers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5897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Pre-filter applied before channel, product, status and search filters, on every enquiry screen.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217920" y="539496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55080" y="55046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Everyone else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355080" y="5897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Unfiltered, exactly as today. Untagged cases are visible here and only here.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 – INTERNAL &amp; APPROVED DOMAINS | Controlled Distribution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51261"/>
            <a:ext cx="905256" cy="51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9144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587568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735993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945642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493776"/>
            <a:ext cx="1640434" cy="274320"/>
          </a:xfrm>
          <a:prstGeom prst="roundRect">
            <a:avLst>
              <a:gd name="adj" fmla="val 26667"/>
            </a:avLst>
          </a:prstGeom>
          <a:solidFill>
            <a:srgbClr val="FDBA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a Case</a:t>
            </a:r>
            <a:pPr algn="l" indent="0" marL="0">
              <a:buNone/>
            </a:pPr>
            <a:r>
              <a:rPr lang="en-US" sz="20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Gets Tagged · three capture points, one rule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214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document is classified as INTERNAL &amp; WHITELISTED | Sharing allowed only with approved external domains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09728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121615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1216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12070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UTM link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1600200"/>
            <a:ext cx="2971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bank shares its link with sale_agent_code=STF-042. The Distribution Portal captures it and passes it to the Bank Portal.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00500" y="109728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37660" y="121615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137660" y="1216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49140" y="12070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Referral Code pop-up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137660" y="1600200"/>
            <a:ext cx="2971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customer types the code the salesperson gave them. Validated live against active Sale codes; an unknown code can be skipped.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43800" y="109728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121615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80960" y="1216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12070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round-robin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1600200"/>
            <a:ext cx="2971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matching code? The Sale user with the lowest count, A to Z tiebreak, per channel and product, where a pool is configured.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01752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EDF2FF"/>
          </a:solidFill>
          <a:ln w="12700">
            <a:solidFill>
              <a:srgbClr val="FDBA2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3017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Precedence: the latest captured value that matches an active Sale Agent Code wins (canonical key, case- and separator-insensitive). Still no match: the case stays untagged, visible to non-Sale users, and ops receive an alert (ET51 pattern).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4087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Immutable after submission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448056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reassignment function. The tag survives deactivation and department changes, so history always resolves.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51960" y="3977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89120" y="4087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capture audited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389120" y="448056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Raw value, resolved code, source (UTM / Pop-up / Round-robin / Backfill) and timestamp are stored with the application.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46720" y="3977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83880" y="4087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Optional by design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183880" y="448056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Both codes are optional, so not every application carries a code. Untagged cases are normal, not errors.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Go-live: historical applications whose stored referral code matches an active Sale Agent Code are tagged once (source = Backfill, audited). Nothing else is touched.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7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6612"/>
            <a:ext cx="724205" cy="413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68019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86759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05498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473218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· Screens &amp; Features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Portal-faithful wireframes of the approved story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835640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055096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274552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84534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 – INTERNAL &amp; APPROVED DOMAINS | Controlled Distribution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51261"/>
            <a:ext cx="905256" cy="51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9144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587568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735993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945642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493776"/>
            <a:ext cx="1640434" cy="274320"/>
          </a:xfrm>
          <a:prstGeom prst="roundRect">
            <a:avLst>
              <a:gd name="adj" fmla="val 26667"/>
            </a:avLst>
          </a:prstGeom>
          <a:solidFill>
            <a:srgbClr val="FDBA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 / Edit</a:t>
            </a:r>
            <a:pPr algn="l" indent="0" marL="0">
              <a:buNone/>
            </a:pPr>
            <a:r>
              <a:rPr lang="en-US" sz="20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User · Sale-only fields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214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document is classified as INTERNAL &amp; WHITELISTED | Sharing allowed only with approved external domains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9768" y="1069848"/>
            <a:ext cx="7050024" cy="2708932"/>
          </a:xfrm>
          <a:prstGeom prst="roundRect">
            <a:avLst>
              <a:gd name="adj" fmla="val 3376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pic>
        <p:nvPicPr>
          <p:cNvPr id="18" name="Image 0" descr="/tmp/claude-0/-home-user-Market-Place/2b50ca51-ff9a-5ef3-82e5-0106c808a1f3/scratchpad/deck/w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6903720" cy="256262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79948"/>
          <a:ext cx="69037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141732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Field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Type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Mandatory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Rules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Sale Agent Code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Text input, 1–24 characters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Yes when Department = Sale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Unique in the bank (IEM001), matched on a canonical key, read-only once approved; a mistake is corrected by deactivating and re-creating the user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Reporting Manager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Searchable multi-select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No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Active Sale users only, never yourself, no circular chain at any depth (IEM002); visibility recalculates on the next request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772400" y="1097280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72400" y="1097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183880" y="107899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Shown only when Department = Sale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183880" y="1426464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Any other department never sees the two fields; those users keep full visibility.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772400" y="2148840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77240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8183880" y="213055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 Agent Code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8183880" y="2478024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bank's own Sales Code / Agent Code / Employee ID. Free text, unique in the bank, read-only once approved.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7772400" y="3200400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77240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8183880" y="31821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Manager, one or more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8183880" y="35295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Multi-select of active Sale users. A circular chain is blocked at any depth.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7772400" y="4078224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77240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8183880" y="40599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Bank-grade control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8183880" y="4407408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change is a Maker/Checker request; uniqueness, format and cycle checks re-run at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 – INTERNAL &amp; APPROVED DOMAINS | Controlled Distribution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51261"/>
            <a:ext cx="905256" cy="51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9144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587568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735993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945642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493776"/>
            <a:ext cx="1640434" cy="274320"/>
          </a:xfrm>
          <a:prstGeom prst="roundRect">
            <a:avLst>
              <a:gd name="adj" fmla="val 26667"/>
            </a:avLst>
          </a:prstGeom>
          <a:solidFill>
            <a:srgbClr val="FDBA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 List</a:t>
            </a:r>
            <a:pPr algn="l" indent="0" marL="0">
              <a:buNone/>
            </a:pPr>
            <a:r>
              <a:rPr lang="en-US" sz="20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&amp; Details · new columns, same screens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214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document is classified as INTERNAL &amp; WHITELISTED | Sharing allowed only with approved external domains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9768" y="1069848"/>
            <a:ext cx="6547104" cy="2806653"/>
          </a:xfrm>
          <a:prstGeom prst="roundRect">
            <a:avLst>
              <a:gd name="adj" fmla="val 3258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pic>
        <p:nvPicPr>
          <p:cNvPr id="18" name="Image 0" descr="/tmp/claude-0/-home-user-Market-Place/2b50ca51-ff9a-5ef3-82e5-0106c808a1f3/scratchpad/deck/w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6400800" cy="2660349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29768" y="4004517"/>
            <a:ext cx="6547104" cy="2146554"/>
          </a:xfrm>
          <a:prstGeom prst="roundRect">
            <a:avLst>
              <a:gd name="adj" fmla="val 4260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pic>
        <p:nvPicPr>
          <p:cNvPr id="20" name="Image 1" descr="/tmp/claude-0/-home-user-Market-Place/2b50ca51-ff9a-5ef3-82e5-0106c808a1f3/scratchpad/deck/w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77669"/>
            <a:ext cx="6400800" cy="200025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772400" y="1097280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772400" y="1097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183880" y="107899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new columns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183880" y="142646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 Agent Code and Reporting Manager after Department: sortable, in the filter panel, in the search scope and in the export.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772400" y="2322576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77240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8183880" y="23042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Non-Sale users show "—"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183880" y="265176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They keep seeing every application through the permissions they already have.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772400" y="3374136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777240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8183880" y="33558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Read-only details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8183880" y="37033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View Details shows the code and the manager list, comma-separated; "None" when empty.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7772400" y="4425696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772400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8183880" y="44074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managers, one user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8183880" y="475488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Alice Rahman reports to Jane Smith and John Doe; both managers see her cases.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 – INTERNAL &amp; APPROVED DOMAINS | Controlled Distribution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51261"/>
            <a:ext cx="905256" cy="51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9144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587568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735993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945642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493776"/>
            <a:ext cx="1640434" cy="274320"/>
          </a:xfrm>
          <a:prstGeom prst="roundRect">
            <a:avLst>
              <a:gd name="adj" fmla="val 26667"/>
            </a:avLst>
          </a:prstGeom>
          <a:solidFill>
            <a:srgbClr val="FDBA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Application</a:t>
            </a:r>
            <a:pPr algn="l" indent="0" marL="0">
              <a:buNone/>
            </a:pPr>
            <a:r>
              <a:rPr lang="en-US" sz="20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Enquiry · the manager view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214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document is classified as INTERNAL &amp; WHITELISTED | Sharing allowed only with approved external domains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9768" y="1069848"/>
            <a:ext cx="7050024" cy="2708932"/>
          </a:xfrm>
          <a:prstGeom prst="roundRect">
            <a:avLst>
              <a:gd name="adj" fmla="val 3376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pic>
        <p:nvPicPr>
          <p:cNvPr id="18" name="Image 0" descr="/tmp/claude-0/-home-user-Market-Place/2b50ca51-ff9a-5ef3-82e5-0106c808a1f3/scratchpad/deck/w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6903720" cy="256262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79948"/>
          <a:ext cx="69037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46304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Screen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Sales staff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Sales manager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Other departments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7E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Application Enquiry (ACP-226/227)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Own tagged cases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Own + subtree, unlimited depth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All rows, untagged included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Report Enquiry + exports (ACP-230, 265/266/268)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Own tagged cases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Own + subtree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All rows, unfiltered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Sale Staff column and detail field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ON by default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ON by default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ON by default; "—" for untagged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772400" y="1097280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72400" y="1097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183880" y="107899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Pre-filter first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183880" y="142646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visibility rule runs before channel, product, status and search filters. Default filters are identical for everyone.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772400" y="2322576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77240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8183880" y="23042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 Staff column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8183880" y="265176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 by default for every user through Customize Table; the code itself is available as a column too.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7772400" y="3374136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77240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8183880" y="33558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Manager sees the subtree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8183880" y="37033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Jane Smith sees her own cases and Alice Rahman's: 3 of 7 rows. Unlimited depth, real time.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7772400" y="4425696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772400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8183880" y="44074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Untagged shows "—"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8183880" y="475488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Visible to non-Sale users only. Report Enquiry and exports follow the same scope.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 – INTERNAL &amp; APPROVED DOMAINS | Controlled Distribution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51261"/>
            <a:ext cx="905256" cy="51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9144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587568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735993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945642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493776"/>
            <a:ext cx="1640434" cy="274320"/>
          </a:xfrm>
          <a:prstGeom prst="roundRect">
            <a:avLst>
              <a:gd name="adj" fmla="val 26667"/>
            </a:avLst>
          </a:prstGeom>
          <a:solidFill>
            <a:srgbClr val="FDBA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Details</a:t>
            </a:r>
            <a:pPr algn="l" indent="0" marL="0">
              <a:buNone/>
            </a:pPr>
            <a:r>
              <a:rPr lang="en-US" sz="20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&amp; Checker · audit and approval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214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document is classified as INTERNAL &amp; WHITELISTED | Sharing allowed only with approved external domains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9768" y="1069848"/>
            <a:ext cx="3483864" cy="1948442"/>
          </a:xfrm>
          <a:prstGeom prst="roundRect">
            <a:avLst>
              <a:gd name="adj" fmla="val 4693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pic>
        <p:nvPicPr>
          <p:cNvPr id="18" name="Image 0" descr="/tmp/claude-0/-home-user-Market-Place/2b50ca51-ff9a-5ef3-82e5-0106c808a1f3/scratchpad/deck/w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337560" cy="180213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995928" y="1069848"/>
            <a:ext cx="3483864" cy="1759431"/>
          </a:xfrm>
          <a:prstGeom prst="roundRect">
            <a:avLst>
              <a:gd name="adj" fmla="val 5197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pic>
        <p:nvPicPr>
          <p:cNvPr id="20" name="Image 1" descr="/tmp/claude-0/-home-user-Market-Place/2b50ca51-ff9a-5ef3-82e5-0106c808a1f3/scratchpad/deck/w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143000"/>
            <a:ext cx="3337560" cy="1613127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02920" y="3265178"/>
            <a:ext cx="6903720" cy="731520"/>
          </a:xfrm>
          <a:prstGeom prst="roundRect">
            <a:avLst>
              <a:gd name="adj" fmla="val 12500"/>
            </a:avLst>
          </a:prstGeom>
          <a:solidFill>
            <a:srgbClr val="EDF2FF"/>
          </a:solidFill>
          <a:ln w="12700">
            <a:solidFill>
              <a:srgbClr val="FDBA2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3265178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First audit-trail entry, written at submission: "Assigned to [Staff Name] via [UTM / Pop-up / Round-robin / Backfill]" with the Sale Agent Code and the time.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02920" y="4225298"/>
            <a:ext cx="2179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0080" y="4335026"/>
            <a:ext cx="190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Raw value received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" y="4728218"/>
            <a:ext cx="190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Exactly as typed in the pop-up or carried in the link.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2865120" y="4225298"/>
            <a:ext cx="2179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002280" y="4335026"/>
            <a:ext cx="190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Resolved Sale Agent Code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3002280" y="4728218"/>
            <a:ext cx="190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Matched on the canonical key against active Sale users.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227320" y="4225298"/>
            <a:ext cx="2179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364480" y="4335026"/>
            <a:ext cx="190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 and timestamp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364480" y="4728218"/>
            <a:ext cx="190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UTM, Pop-up, Round-robin or Backfill, and when it was captured.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7772400" y="1097280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772400" y="1097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8183880" y="107899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 Staff on the case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8183880" y="1426464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 name and code on Application Details; the first audit-trail entry records who was assigned, how, and when.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7772400" y="2148840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77240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8183880" y="213055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 you can trust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8183880" y="2478024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UTM, Pop-up, Round-robin or Backfill is stored next to the raw value received.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7772400" y="3200400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777240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8183880" y="31821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Old / new comparison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8183880" y="3529584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Checker Detail shows the code and the manager list before and after, first-time assignments included.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7772400" y="4251960"/>
            <a:ext cx="310896" cy="310896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7772400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8183880" y="42336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Approve re-validates</a:t>
            </a:r>
            <a:endParaRPr lang="en-US" sz="1200" dirty="0"/>
          </a:p>
        </p:txBody>
      </p:sp>
      <p:sp>
        <p:nvSpPr>
          <p:cNvPr id="47" name="Text 43"/>
          <p:cNvSpPr txBox="1"/>
          <p:nvPr/>
        </p:nvSpPr>
        <p:spPr>
          <a:xfrm>
            <a:off x="8183880" y="4581144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IEM001 and IEM002 run again at approval, so two concurrent requests cannot land a duplicate or a cycle.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 – INTERNAL &amp; APPROVED DOMAINS | Controlled Distribution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51261"/>
            <a:ext cx="905256" cy="51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9144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587568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735993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945642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493776"/>
            <a:ext cx="1640434" cy="274320"/>
          </a:xfrm>
          <a:prstGeom prst="roundRect">
            <a:avLst>
              <a:gd name="adj" fmla="val 26667"/>
            </a:avLst>
          </a:prstGeom>
          <a:solidFill>
            <a:srgbClr val="FDBA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</a:t>
            </a:r>
            <a:pPr algn="l" indent="0" marL="0">
              <a:buNone/>
            </a:pPr>
            <a:r>
              <a:rPr lang="en-US" sz="20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Pop-up &amp; Guardrails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214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document is classified as INTERNAL &amp; WHITELISTED | Sharing allowed only with approved external domains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9768" y="1069848"/>
            <a:ext cx="3438144" cy="1672424"/>
          </a:xfrm>
          <a:prstGeom prst="roundRect">
            <a:avLst>
              <a:gd name="adj" fmla="val 5468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pic>
        <p:nvPicPr>
          <p:cNvPr id="18" name="Image 0" descr="/tmp/claude-0/-home-user-Market-Place/2b50ca51-ff9a-5ef3-82e5-0106c808a1f3/scratchpad/deck/w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291840" cy="15261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927348" y="1069848"/>
            <a:ext cx="3438144" cy="1405615"/>
          </a:xfrm>
          <a:prstGeom prst="roundRect">
            <a:avLst>
              <a:gd name="adj" fmla="val 6505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pic>
        <p:nvPicPr>
          <p:cNvPr id="20" name="Image 1" descr="/tmp/claude-0/-home-user-Market-Place/2b50ca51-ff9a-5ef3-82e5-0106c808a1f3/scratchpad/deck/w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143000"/>
            <a:ext cx="3291840" cy="1259311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424928" y="1069848"/>
            <a:ext cx="3438144" cy="1408513"/>
          </a:xfrm>
          <a:prstGeom prst="roundRect">
            <a:avLst>
              <a:gd name="adj" fmla="val 6492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pic>
        <p:nvPicPr>
          <p:cNvPr id="22" name="Image 2" descr="/tmp/claude-0/-home-user-Market-Place/2b50ca51-ff9a-5ef3-82e5-0106c808a1f3/scratchpad/deck/w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143000"/>
            <a:ext cx="3291840" cy="1262209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02920" y="303488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" y="315375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40080" y="315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051560" y="31446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Referral Code pop-up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40080" y="3537800"/>
            <a:ext cx="3017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customer enters the code the salesperson gave them. Validated live; an unknown code can be skipped. The latest matching code wins at submission.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000500" y="303488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137660" y="315375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137660" y="315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4549140" y="31446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Lifecycle guardrails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4137660" y="3537800"/>
            <a:ext cx="3017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manager cannot leave Sale or be deactivated while active Sale users report to them (IEM003). Deactivating staff is allowed; their cases keep the tag.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7498080" y="303488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635240" y="315375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7635240" y="315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8046720" y="31446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Ops alert on unmatched codes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7635240" y="3537800"/>
            <a:ext cx="3017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typo or a leaver's code never fails silently: ops receive the code, the application reference and the timestamp (ET51 pattern).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502920" y="5229440"/>
            <a:ext cx="10287000" cy="685800"/>
          </a:xfrm>
          <a:prstGeom prst="roundRect">
            <a:avLst>
              <a:gd name="adj" fmla="val 13333"/>
            </a:avLst>
          </a:prstGeom>
          <a:solidFill>
            <a:srgbClr val="EDF2FF"/>
          </a:solidFill>
          <a:ln w="12700">
            <a:solidFill>
              <a:srgbClr val="3B7EF6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85800" y="522944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edge is audited: pop-up captures carry source and timestamp, lifecycle changes go through Maker/Checker, and alerts name the code, the application reference and the time received.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7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6612"/>
            <a:ext cx="724205" cy="413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68019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86759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05498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473218" y="407902"/>
            <a:ext cx="89055" cy="890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· Why It Sells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 things a bank gets on day 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835640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055096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274552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84534" y="647395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 – INTERNAL &amp; APPROVED DOMAINS | Controlled Distribution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51261"/>
            <a:ext cx="905256" cy="51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9144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587568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735993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945642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493776"/>
            <a:ext cx="1640434" cy="274320"/>
          </a:xfrm>
          <a:prstGeom prst="roundRect">
            <a:avLst>
              <a:gd name="adj" fmla="val 26667"/>
            </a:avLst>
          </a:prstGeom>
          <a:solidFill>
            <a:srgbClr val="FDBA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Best Selling</a:t>
            </a:r>
            <a:pPr algn="l" indent="0" marL="0">
              <a:buNone/>
            </a:pPr>
            <a:r>
              <a:rPr lang="en-US" sz="20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Points · what a bank gets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214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document is classified as INTERNAL &amp; WHITELISTED | Sharing allowed only with approved external domains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097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 things a bank gets on day one. Every proof line below comes straight from the approved acceptance criteria of AMP-2548.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19659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08483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07568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code, end to end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468880"/>
            <a:ext cx="3291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bank's own Sale Agent Code on the user record, in the UTM link, in the customer pop-up and on the application. No mapping tables, no second identifier.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51960" y="19659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08483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8912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207568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Switch it on by department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2468880"/>
            <a:ext cx="3291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Department = Sale drives the fields, the filters and the round-robin pool. No new permission, no role rework, no migration grant.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19659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208483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8388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595360" y="207568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Hierarchy without limits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2468880"/>
            <a:ext cx="3291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Unlimited depth, several managers per user, real time when the org chart changes. A regional head sees every level below.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432511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436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" y="43159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Attribution you can audit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4709160"/>
            <a:ext cx="3291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capture is logged with its source and timestamp; the tag is immutable once submitted, so sales credit never moves silently.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51960" y="4206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0" y="432511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38912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800600" y="43159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Operations never lose sight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389120" y="4709160"/>
            <a:ext cx="3291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other department keeps full visibility, untagged cases included, and a typo'd link raises an alert instead of a lost lead.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046720" y="4206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83880" y="4325112"/>
            <a:ext cx="310896" cy="310896"/>
          </a:xfrm>
          <a:prstGeom prst="ellipse">
            <a:avLst/>
          </a:prstGeom>
          <a:solidFill>
            <a:srgbClr val="FDBA2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18388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595360" y="43159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Bank-grade control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183880" y="4709160"/>
            <a:ext cx="3291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Maker/Checker on every change, uniqueness and cycle checks re-run at approval, scope evaluated server-side on every request.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011680"/>
            <a:ext cx="4114800" cy="41148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3657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 – INTERNAL &amp; APPROVED DOMAINS | Controlled Distribution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0561320" y="251261"/>
            <a:ext cx="905256" cy="51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9144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587568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735993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945642" y="477873"/>
            <a:ext cx="111318" cy="1113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493776"/>
            <a:ext cx="1640434" cy="274320"/>
          </a:xfrm>
          <a:prstGeom prst="roundRect">
            <a:avLst>
              <a:gd name="adj" fmla="val 26667"/>
            </a:avLst>
          </a:prstGeom>
          <a:solidFill>
            <a:srgbClr val="FDBA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65760"/>
            <a:ext cx="100584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Go-Live</a:t>
            </a:r>
            <a:pPr algn="l" indent="0" marL="0">
              <a:buNone/>
            </a:pPr>
            <a:r>
              <a:rPr lang="en-US" sz="20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Readiness · data, dependencies, next steps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214" y="6473952"/>
            <a:ext cx="164592" cy="164592"/>
          </a:xfrm>
          <a:prstGeom prst="ellipse">
            <a:avLst/>
          </a:prstGeom>
          <a:solidFill>
            <a:srgbClr val="3B7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65653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document is classified as INTERNAL &amp; WHITELISTED | Sharing allowed only with approved external domains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097280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3B7E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Day-one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155448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16642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Existing Sale users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057400"/>
            <a:ext cx="4754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Get their Sale Agent Code through Edit User (Maker/Checker) at go-live; until then they see no applications (IM005).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1272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Historical applications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520440"/>
            <a:ext cx="4754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One-off backfill: cases whose stored referral code matches an active Sale Agent Code are tagged (source = Backfill, audited). No round-robin backfill.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1A21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45902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Everything else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4983480"/>
            <a:ext cx="4754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Stays visible to non-Sale users exactly as today. Reports, exports and queues are untouched.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0" y="1097280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FDBA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76072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Dependencies to close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155448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97880" y="16642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Distribution Portal parameter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897880" y="2057400"/>
            <a:ext cx="4754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sale_agent_code added to the Super Admin-configurable UTM parameter list: one name, case-sensitive, across every channel and product.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60720" y="301752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97880" y="31272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Notification audit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3520440"/>
            <a:ext cx="4754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every template that mails the assigned staff member and decide where the Reporting Manager is copied (separate ticket).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60720" y="448056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EDF2FF"/>
          </a:solidFill>
          <a:ln w="9525">
            <a:solidFill>
              <a:srgbClr val="3B7E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97880" y="45902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Mockup and messages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897880" y="4983480"/>
            <a:ext cx="4754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Mockup labels move to "Sale Agent Code"; IEM001 to IEM003 and IEM005 confirmed unused in the message registry.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114800"/>
            <a:ext cx="5486400" cy="5486400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71600" y="22860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7E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Choose It, We Approve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4309607"/>
            <a:ext cx="1207008" cy="68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542032" y="4611757"/>
            <a:ext cx="148424" cy="148424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7" name="Shape 5"/>
          <p:cNvSpPr/>
          <p:nvPr/>
        </p:nvSpPr>
        <p:spPr>
          <a:xfrm>
            <a:off x="2739931" y="4611757"/>
            <a:ext cx="148424" cy="148424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8" name="Shape 6"/>
          <p:cNvSpPr/>
          <p:nvPr/>
        </p:nvSpPr>
        <p:spPr>
          <a:xfrm>
            <a:off x="2937830" y="4611757"/>
            <a:ext cx="148424" cy="148424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9" name="Shape 7"/>
          <p:cNvSpPr/>
          <p:nvPr/>
        </p:nvSpPr>
        <p:spPr>
          <a:xfrm>
            <a:off x="3217363" y="4611757"/>
            <a:ext cx="148424" cy="148424"/>
          </a:xfrm>
          <a:prstGeom prst="ellipse">
            <a:avLst/>
          </a:prstGeom>
          <a:solidFill>
            <a:srgbClr val="1A21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658368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1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is not a legally binding document. Highly confidential — not to be shared without written consent.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Appro Onboarding Solutions FZ-LLC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 Agent Code &amp; Reporting Hierarchy</dc:title>
  <dc:subject>PptxGenJS Presentation</dc:subject>
  <dc:creator>Appro</dc:creator>
  <cp:lastModifiedBy>Appro</cp:lastModifiedBy>
  <cp:revision>1</cp:revision>
  <dcterms:created xsi:type="dcterms:W3CDTF">2026-09-08T11:24:56Z</dcterms:created>
  <dcterms:modified xsi:type="dcterms:W3CDTF">2026-09-08T11:24:56Z</dcterms:modified>
</cp:coreProperties>
</file>