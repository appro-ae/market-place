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of the approved feature: every Sale user carries a Sale Agent Code; applications are tagged to it; enquiry visibility follows the reporting hierarchy; every other department keeps full visibility.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five steps left to right. The yellow banner is the design principle the CPO asked for: department-driven, no new permission.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audiences, one rule. Emphasise that operations lose nothing.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capture points feed one attribution rule. Stress "latest matching value wins" and that untagged cases are a normal outcome.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slide for the whole User Management module: Add / Edit User on top, then the list and the read-only detail view. Point out the lock on the code and the multi-select manager field.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scope pill at the top of the wireframe explains what the logged-in manager sees.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Left: what a sales manager or ops user sees on the case. Right: what the Checker approves.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Customer side, admin side, operations side: the three edges of the feature.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Lead with the benefit on each card; the proof line underneath comes straight from the approved acceptance criteria.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tickets to raise before development starts; the rest is configuration.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F2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18320" y="4114800"/>
            <a:ext cx="5486400" cy="5486400"/>
          </a:xfrm>
          <a:prstGeom prst="ellipse">
            <a:avLst/>
          </a:prstGeom>
          <a:solidFill>
            <a:srgbClr val="1A214D"/>
          </a:solidFill>
          <a:ln/>
        </p:spPr>
      </p:sp>
      <p:pic>
        <p:nvPicPr>
          <p:cNvPr id="3" name="Image 0" descr="/tmp/claude-0/-home-user-Market-Place/2b50ca51-ff9a-5ef3-82e5-0106c808a1f3/scratchpad/deck/logo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097280"/>
            <a:ext cx="2011680" cy="583383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182880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1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Onboarding Powerhouse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2468880"/>
            <a:ext cx="6949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A21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Sale Agent Code &amp; Reporting Hierarchy</a:t>
            </a:r>
            <a:endParaRPr 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379476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7EF6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Sales visibility and case attribution for the Bank Portal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4343400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1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Product demo · SMBP V3 Bank Portal · Story AMP-2548 (approved 06/09/2026)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6172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1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Appro Onboarding Solutions FZ-LLC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64465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1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07 September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B7E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rket-Place/2b50ca51-ff9a-5ef3-82e5-0106c808a1f3/scratchpad/deck/logo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274320"/>
            <a:ext cx="1097280" cy="318209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256032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 · Business Workflow</a:t>
            </a:r>
            <a:endParaRPr lang="en-US" sz="3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37490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From user setup to reporting, in five steps</a:t>
            </a:r>
            <a:endParaRPr lang="en-US" sz="1400" dirty="0"/>
          </a:p>
        </p:txBody>
      </p:sp>
      <p:sp>
        <p:nvSpPr>
          <p:cNvPr id="5" name="Shape 2"/>
          <p:cNvSpPr/>
          <p:nvPr/>
        </p:nvSpPr>
        <p:spPr>
          <a:xfrm>
            <a:off x="10835640" y="6473952"/>
            <a:ext cx="164592" cy="16459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6" name="Shape 3"/>
          <p:cNvSpPr/>
          <p:nvPr/>
        </p:nvSpPr>
        <p:spPr>
          <a:xfrm>
            <a:off x="11055096" y="6473952"/>
            <a:ext cx="164592" cy="16459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7" name="Shape 4"/>
          <p:cNvSpPr/>
          <p:nvPr/>
        </p:nvSpPr>
        <p:spPr>
          <a:xfrm>
            <a:off x="11274552" y="6473952"/>
            <a:ext cx="164592" cy="16459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8" name="Shape 5"/>
          <p:cNvSpPr/>
          <p:nvPr/>
        </p:nvSpPr>
        <p:spPr>
          <a:xfrm>
            <a:off x="11584534" y="6473952"/>
            <a:ext cx="164592" cy="164592"/>
          </a:xfrm>
          <a:prstGeom prst="ellipse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515600" y="-2011680"/>
            <a:ext cx="4114800" cy="4114800"/>
          </a:xfrm>
          <a:prstGeom prst="ellipse">
            <a:avLst/>
          </a:prstGeom>
          <a:solidFill>
            <a:srgbClr val="1A214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228600" y="36576"/>
            <a:ext cx="10058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1A21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APPRO – INTERNAL &amp; APPROVED DOMAINS | Controlled Distribution</a:t>
            </a:r>
            <a:endParaRPr lang="en-US" sz="700" dirty="0"/>
          </a:p>
        </p:txBody>
      </p:sp>
      <p:pic>
        <p:nvPicPr>
          <p:cNvPr id="4" name="Image 0" descr="/tmp/claude-0/-home-user-Market-Place/2b50ca51-ff9a-5ef3-82e5-0106c808a1f3/scratchpad/deck/logo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98480" y="274320"/>
            <a:ext cx="1325880" cy="384503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228600" y="493776"/>
            <a:ext cx="1640434" cy="274320"/>
          </a:xfrm>
          <a:prstGeom prst="roundRect">
            <a:avLst>
              <a:gd name="adj" fmla="val 26667"/>
            </a:avLst>
          </a:prstGeom>
          <a:solidFill>
            <a:srgbClr val="FDBA23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274320" y="365760"/>
            <a:ext cx="1005840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A21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Business</a:t>
            </a:r>
            <a:pPr algn="l" indent="0" marL="0">
              <a:buNone/>
            </a:pPr>
            <a:r>
              <a:rPr lang="en-US" sz="2000" b="1" dirty="0">
                <a:solidFill>
                  <a:srgbClr val="3B7EF6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 Workflow · from setup to reporting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274320" y="6473952"/>
            <a:ext cx="164592" cy="164592"/>
          </a:xfrm>
          <a:prstGeom prst="ellipse">
            <a:avLst/>
          </a:prstGeom>
          <a:solidFill>
            <a:srgbClr val="3B7EF6"/>
          </a:solidFill>
          <a:ln/>
        </p:spPr>
      </p:sp>
      <p:sp>
        <p:nvSpPr>
          <p:cNvPr id="8" name="Shape 5"/>
          <p:cNvSpPr/>
          <p:nvPr/>
        </p:nvSpPr>
        <p:spPr>
          <a:xfrm>
            <a:off x="493776" y="6473952"/>
            <a:ext cx="164592" cy="164592"/>
          </a:xfrm>
          <a:prstGeom prst="ellipse">
            <a:avLst/>
          </a:prstGeom>
          <a:solidFill>
            <a:srgbClr val="3B7EF6"/>
          </a:solidFill>
          <a:ln/>
        </p:spPr>
      </p:sp>
      <p:sp>
        <p:nvSpPr>
          <p:cNvPr id="9" name="Shape 6"/>
          <p:cNvSpPr/>
          <p:nvPr/>
        </p:nvSpPr>
        <p:spPr>
          <a:xfrm>
            <a:off x="713232" y="6473952"/>
            <a:ext cx="164592" cy="164592"/>
          </a:xfrm>
          <a:prstGeom prst="ellipse">
            <a:avLst/>
          </a:prstGeom>
          <a:solidFill>
            <a:srgbClr val="3B7EF6"/>
          </a:solidFill>
          <a:ln/>
        </p:spPr>
      </p:sp>
      <p:sp>
        <p:nvSpPr>
          <p:cNvPr id="10" name="Shape 7"/>
          <p:cNvSpPr/>
          <p:nvPr/>
        </p:nvSpPr>
        <p:spPr>
          <a:xfrm>
            <a:off x="1023214" y="6473952"/>
            <a:ext cx="164592" cy="164592"/>
          </a:xfrm>
          <a:prstGeom prst="ellipse">
            <a:avLst/>
          </a:prstGeom>
          <a:solidFill>
            <a:srgbClr val="3B7EF6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1371600" y="6565392"/>
            <a:ext cx="9144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A21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This document is classified as INTERNAL &amp; WHITELISTED | Sharing allowed only with approved external domains</a:t>
            </a:r>
            <a:endParaRPr lang="en-US" sz="700" dirty="0"/>
          </a:p>
        </p:txBody>
      </p:sp>
      <p:sp>
        <p:nvSpPr>
          <p:cNvPr id="12" name="Text 9"/>
          <p:cNvSpPr txBox="1"/>
          <p:nvPr/>
        </p:nvSpPr>
        <p:spPr>
          <a:xfrm>
            <a:off x="11521440" y="656539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A21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3</a:t>
            </a:r>
            <a:endParaRPr lang="en-US" sz="800" dirty="0"/>
          </a:p>
        </p:txBody>
      </p:sp>
      <p:sp>
        <p:nvSpPr>
          <p:cNvPr id="13" name="Shape 10"/>
          <p:cNvSpPr/>
          <p:nvPr/>
        </p:nvSpPr>
        <p:spPr>
          <a:xfrm>
            <a:off x="457200" y="1097280"/>
            <a:ext cx="1874520" cy="2286000"/>
          </a:xfrm>
          <a:prstGeom prst="roundRect">
            <a:avLst>
              <a:gd name="adj" fmla="val 4878"/>
            </a:avLst>
          </a:prstGeom>
          <a:solidFill>
            <a:srgbClr val="EDF2FF"/>
          </a:solidFill>
          <a:ln w="9525">
            <a:solidFill>
              <a:srgbClr val="3B7EF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594360" y="1234440"/>
            <a:ext cx="347472" cy="347472"/>
          </a:xfrm>
          <a:prstGeom prst="ellipse">
            <a:avLst/>
          </a:prstGeom>
          <a:solidFill>
            <a:srgbClr val="3B7EF6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594360" y="12344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1005840" y="1234440"/>
            <a:ext cx="1234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3B7EF6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BANK ADMIN</a:t>
            </a:r>
            <a:endParaRPr lang="en-US" sz="750" dirty="0"/>
          </a:p>
        </p:txBody>
      </p:sp>
      <p:sp>
        <p:nvSpPr>
          <p:cNvPr id="17" name="Text 14"/>
          <p:cNvSpPr txBox="1"/>
          <p:nvPr/>
        </p:nvSpPr>
        <p:spPr>
          <a:xfrm>
            <a:off x="594360" y="1664208"/>
            <a:ext cx="1600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1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Set up the Sale user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594360" y="2011680"/>
            <a:ext cx="1600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21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Create the user with Department = Sale, a Sale Agent Code and one or more Reporting Managers. Maker/Checker approves.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2313432" y="1965960"/>
            <a:ext cx="2194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B7EF6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›</a:t>
            </a:r>
            <a:endParaRPr lang="en-US" sz="2400" dirty="0"/>
          </a:p>
        </p:txBody>
      </p:sp>
      <p:sp>
        <p:nvSpPr>
          <p:cNvPr id="20" name="Shape 17"/>
          <p:cNvSpPr/>
          <p:nvPr/>
        </p:nvSpPr>
        <p:spPr>
          <a:xfrm>
            <a:off x="2514600" y="1097280"/>
            <a:ext cx="1874520" cy="2286000"/>
          </a:xfrm>
          <a:prstGeom prst="roundRect">
            <a:avLst>
              <a:gd name="adj" fmla="val 4878"/>
            </a:avLst>
          </a:prstGeom>
          <a:solidFill>
            <a:srgbClr val="EDF2FF"/>
          </a:solidFill>
          <a:ln w="9525">
            <a:solidFill>
              <a:srgbClr val="3B7EF6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2651760" y="1234440"/>
            <a:ext cx="347472" cy="347472"/>
          </a:xfrm>
          <a:prstGeom prst="ellipse">
            <a:avLst/>
          </a:prstGeom>
          <a:solidFill>
            <a:srgbClr val="3B7EF6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2651760" y="12344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2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3063240" y="1234440"/>
            <a:ext cx="1234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3B7EF6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CUSTOMER JOURNEY</a:t>
            </a:r>
            <a:endParaRPr lang="en-US" sz="750" dirty="0"/>
          </a:p>
        </p:txBody>
      </p:sp>
      <p:sp>
        <p:nvSpPr>
          <p:cNvPr id="24" name="Text 21"/>
          <p:cNvSpPr txBox="1"/>
          <p:nvPr/>
        </p:nvSpPr>
        <p:spPr>
          <a:xfrm>
            <a:off x="2651760" y="1664208"/>
            <a:ext cx="1600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1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Capture the code</a:t>
            </a:r>
            <a:endParaRPr lang="en-US" sz="1250" dirty="0"/>
          </a:p>
        </p:txBody>
      </p:sp>
      <p:sp>
        <p:nvSpPr>
          <p:cNvPr id="25" name="Text 22"/>
          <p:cNvSpPr txBox="1"/>
          <p:nvPr/>
        </p:nvSpPr>
        <p:spPr>
          <a:xfrm>
            <a:off x="2651760" y="2011680"/>
            <a:ext cx="1600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21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The code travels with the application: the UTM link (sale_agent_code) or the Referral Code pop-up the customer fills in.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4370832" y="1965960"/>
            <a:ext cx="2194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B7EF6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›</a:t>
            </a:r>
            <a:endParaRPr lang="en-US" sz="2400" dirty="0"/>
          </a:p>
        </p:txBody>
      </p:sp>
      <p:sp>
        <p:nvSpPr>
          <p:cNvPr id="27" name="Shape 24"/>
          <p:cNvSpPr/>
          <p:nvPr/>
        </p:nvSpPr>
        <p:spPr>
          <a:xfrm>
            <a:off x="4572000" y="1097280"/>
            <a:ext cx="1874520" cy="2286000"/>
          </a:xfrm>
          <a:prstGeom prst="roundRect">
            <a:avLst>
              <a:gd name="adj" fmla="val 4878"/>
            </a:avLst>
          </a:prstGeom>
          <a:solidFill>
            <a:srgbClr val="EDF2FF"/>
          </a:solidFill>
          <a:ln w="9525">
            <a:solidFill>
              <a:srgbClr val="3B7EF6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709160" y="1234440"/>
            <a:ext cx="347472" cy="347472"/>
          </a:xfrm>
          <a:prstGeom prst="ellipse">
            <a:avLst/>
          </a:prstGeom>
          <a:solidFill>
            <a:srgbClr val="3B7EF6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4709160" y="12344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3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5120640" y="1234440"/>
            <a:ext cx="1234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3B7EF6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SYSTEM · SUBMISSION</a:t>
            </a:r>
            <a:endParaRPr lang="en-US" sz="750" dirty="0"/>
          </a:p>
        </p:txBody>
      </p:sp>
      <p:sp>
        <p:nvSpPr>
          <p:cNvPr id="31" name="Text 28"/>
          <p:cNvSpPr txBox="1"/>
          <p:nvPr/>
        </p:nvSpPr>
        <p:spPr>
          <a:xfrm>
            <a:off x="4709160" y="1664208"/>
            <a:ext cx="1600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1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Tag the case</a:t>
            </a:r>
            <a:endParaRPr lang="en-US" sz="1250" dirty="0"/>
          </a:p>
        </p:txBody>
      </p:sp>
      <p:sp>
        <p:nvSpPr>
          <p:cNvPr id="32" name="Text 29"/>
          <p:cNvSpPr txBox="1"/>
          <p:nvPr/>
        </p:nvSpPr>
        <p:spPr>
          <a:xfrm>
            <a:off x="4709160" y="2011680"/>
            <a:ext cx="1600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21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The latest captured code that matches an active Sale user wins. No match: sales round-robin where a pool exists, otherwise untagged.</a:t>
            </a:r>
            <a:endParaRPr lang="en-US" sz="1000" dirty="0"/>
          </a:p>
        </p:txBody>
      </p:sp>
      <p:sp>
        <p:nvSpPr>
          <p:cNvPr id="33" name="Text 30"/>
          <p:cNvSpPr txBox="1"/>
          <p:nvPr/>
        </p:nvSpPr>
        <p:spPr>
          <a:xfrm>
            <a:off x="6428232" y="1965960"/>
            <a:ext cx="2194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B7EF6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›</a:t>
            </a:r>
            <a:endParaRPr lang="en-US" sz="2400" dirty="0"/>
          </a:p>
        </p:txBody>
      </p:sp>
      <p:sp>
        <p:nvSpPr>
          <p:cNvPr id="34" name="Shape 31"/>
          <p:cNvSpPr/>
          <p:nvPr/>
        </p:nvSpPr>
        <p:spPr>
          <a:xfrm>
            <a:off x="6629400" y="1097280"/>
            <a:ext cx="1874520" cy="2286000"/>
          </a:xfrm>
          <a:prstGeom prst="roundRect">
            <a:avLst>
              <a:gd name="adj" fmla="val 4878"/>
            </a:avLst>
          </a:prstGeom>
          <a:solidFill>
            <a:srgbClr val="EDF2FF"/>
          </a:solidFill>
          <a:ln w="9525">
            <a:solidFill>
              <a:srgbClr val="3B7EF6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6766560" y="1234440"/>
            <a:ext cx="347472" cy="347472"/>
          </a:xfrm>
          <a:prstGeom prst="ellipse">
            <a:avLst/>
          </a:prstGeom>
          <a:solidFill>
            <a:srgbClr val="3B7EF6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6766560" y="12344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4</a:t>
            </a:r>
            <a:endParaRPr lang="en-US" sz="1200" dirty="0"/>
          </a:p>
        </p:txBody>
      </p:sp>
      <p:sp>
        <p:nvSpPr>
          <p:cNvPr id="37" name="Text 34"/>
          <p:cNvSpPr txBox="1"/>
          <p:nvPr/>
        </p:nvSpPr>
        <p:spPr>
          <a:xfrm>
            <a:off x="7178040" y="1234440"/>
            <a:ext cx="1234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3B7EF6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SALES STAFF &amp; MANAGERS</a:t>
            </a:r>
            <a:endParaRPr lang="en-US" sz="750" dirty="0"/>
          </a:p>
        </p:txBody>
      </p:sp>
      <p:sp>
        <p:nvSpPr>
          <p:cNvPr id="38" name="Text 35"/>
          <p:cNvSpPr txBox="1"/>
          <p:nvPr/>
        </p:nvSpPr>
        <p:spPr>
          <a:xfrm>
            <a:off x="6766560" y="1664208"/>
            <a:ext cx="1600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1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See your own book</a:t>
            </a:r>
            <a:endParaRPr lang="en-US" sz="1250" dirty="0"/>
          </a:p>
        </p:txBody>
      </p:sp>
      <p:sp>
        <p:nvSpPr>
          <p:cNvPr id="39" name="Text 36"/>
          <p:cNvSpPr txBox="1"/>
          <p:nvPr/>
        </p:nvSpPr>
        <p:spPr>
          <a:xfrm>
            <a:off x="6766560" y="2011680"/>
            <a:ext cx="1600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21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Staff see the cases tagged to them. Managers see their whole reporting subtree, at any depth, in real time.</a:t>
            </a:r>
            <a:endParaRPr lang="en-US" sz="1000" dirty="0"/>
          </a:p>
        </p:txBody>
      </p:sp>
      <p:sp>
        <p:nvSpPr>
          <p:cNvPr id="40" name="Text 37"/>
          <p:cNvSpPr txBox="1"/>
          <p:nvPr/>
        </p:nvSpPr>
        <p:spPr>
          <a:xfrm>
            <a:off x="8485632" y="1965960"/>
            <a:ext cx="2194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B7EF6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›</a:t>
            </a:r>
            <a:endParaRPr lang="en-US" sz="2400" dirty="0"/>
          </a:p>
        </p:txBody>
      </p:sp>
      <p:sp>
        <p:nvSpPr>
          <p:cNvPr id="41" name="Shape 38"/>
          <p:cNvSpPr/>
          <p:nvPr/>
        </p:nvSpPr>
        <p:spPr>
          <a:xfrm>
            <a:off x="8686800" y="1097280"/>
            <a:ext cx="1874520" cy="2286000"/>
          </a:xfrm>
          <a:prstGeom prst="roundRect">
            <a:avLst>
              <a:gd name="adj" fmla="val 4878"/>
            </a:avLst>
          </a:prstGeom>
          <a:solidFill>
            <a:srgbClr val="EDF2FF"/>
          </a:solidFill>
          <a:ln w="9525">
            <a:solidFill>
              <a:srgbClr val="3B7EF6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8823960" y="1234440"/>
            <a:ext cx="347472" cy="347472"/>
          </a:xfrm>
          <a:prstGeom prst="ellipse">
            <a:avLst/>
          </a:prstGeom>
          <a:solidFill>
            <a:srgbClr val="3B7EF6"/>
          </a:solidFill>
          <a:ln/>
        </p:spPr>
      </p:sp>
      <p:sp>
        <p:nvSpPr>
          <p:cNvPr id="43" name="Text 40"/>
          <p:cNvSpPr txBox="1"/>
          <p:nvPr/>
        </p:nvSpPr>
        <p:spPr>
          <a:xfrm>
            <a:off x="8823960" y="12344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5</a:t>
            </a:r>
            <a:endParaRPr lang="en-US" sz="1200" dirty="0"/>
          </a:p>
        </p:txBody>
      </p:sp>
      <p:sp>
        <p:nvSpPr>
          <p:cNvPr id="44" name="Text 41"/>
          <p:cNvSpPr txBox="1"/>
          <p:nvPr/>
        </p:nvSpPr>
        <p:spPr>
          <a:xfrm>
            <a:off x="9235440" y="1234440"/>
            <a:ext cx="1234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3B7EF6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OPERATIONS &amp; OTHERS</a:t>
            </a:r>
            <a:endParaRPr lang="en-US" sz="750" dirty="0"/>
          </a:p>
        </p:txBody>
      </p:sp>
      <p:sp>
        <p:nvSpPr>
          <p:cNvPr id="45" name="Text 42"/>
          <p:cNvSpPr txBox="1"/>
          <p:nvPr/>
        </p:nvSpPr>
        <p:spPr>
          <a:xfrm>
            <a:off x="8823960" y="1664208"/>
            <a:ext cx="1600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1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Run the bank as today</a:t>
            </a:r>
            <a:endParaRPr lang="en-US" sz="1250" dirty="0"/>
          </a:p>
        </p:txBody>
      </p:sp>
      <p:sp>
        <p:nvSpPr>
          <p:cNvPr id="46" name="Text 43"/>
          <p:cNvSpPr txBox="1"/>
          <p:nvPr/>
        </p:nvSpPr>
        <p:spPr>
          <a:xfrm>
            <a:off x="8823960" y="2011680"/>
            <a:ext cx="1600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21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Every department outside Sale keeps full visibility, untagged cases included. Reports and exports follow the same scope.</a:t>
            </a:r>
            <a:endParaRPr lang="en-US" sz="1000" dirty="0"/>
          </a:p>
        </p:txBody>
      </p:sp>
      <p:sp>
        <p:nvSpPr>
          <p:cNvPr id="47" name="Shape 44"/>
          <p:cNvSpPr/>
          <p:nvPr/>
        </p:nvSpPr>
        <p:spPr>
          <a:xfrm>
            <a:off x="457200" y="3611880"/>
            <a:ext cx="11247120" cy="685800"/>
          </a:xfrm>
          <a:prstGeom prst="roundRect">
            <a:avLst>
              <a:gd name="adj" fmla="val 13333"/>
            </a:avLst>
          </a:prstGeom>
          <a:solidFill>
            <a:srgbClr val="EDF2FF"/>
          </a:solidFill>
          <a:ln w="12700">
            <a:solidFill>
              <a:srgbClr val="FDBA23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640080" y="361188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A21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The rule behind it: Department = Sale switches everything on. Sale users get a Sale Agent Code and Reporting Manager; every other department keeps full visibility through the permissions it already has. No new permission, no migration grant.</a:t>
            </a:r>
            <a:endParaRPr lang="en-US" sz="1150" dirty="0"/>
          </a:p>
        </p:txBody>
      </p:sp>
      <p:sp>
        <p:nvSpPr>
          <p:cNvPr id="49" name="Shape 46"/>
          <p:cNvSpPr/>
          <p:nvPr/>
        </p:nvSpPr>
        <p:spPr>
          <a:xfrm>
            <a:off x="457200" y="4526280"/>
            <a:ext cx="356616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A214D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594360" y="4636008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B7EF6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Maker/Checker on every change</a:t>
            </a:r>
            <a:endParaRPr lang="en-US" sz="1200" dirty="0"/>
          </a:p>
        </p:txBody>
      </p:sp>
      <p:sp>
        <p:nvSpPr>
          <p:cNvPr id="51" name="Text 48"/>
          <p:cNvSpPr txBox="1"/>
          <p:nvPr/>
        </p:nvSpPr>
        <p:spPr>
          <a:xfrm>
            <a:off x="594360" y="5029200"/>
            <a:ext cx="32918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A21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Sale Agent Code and Reporting Manager follow the standard flow; uniqueness and cycle checks re-run at Checker approval.</a:t>
            </a:r>
            <a:endParaRPr lang="en-US" sz="1050" dirty="0"/>
          </a:p>
        </p:txBody>
      </p:sp>
      <p:sp>
        <p:nvSpPr>
          <p:cNvPr id="52" name="Shape 49"/>
          <p:cNvSpPr/>
          <p:nvPr/>
        </p:nvSpPr>
        <p:spPr>
          <a:xfrm>
            <a:off x="4251960" y="4526280"/>
            <a:ext cx="356616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A214D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4389120" y="4636008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B7EF6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Tag set once, audited</a:t>
            </a:r>
            <a:endParaRPr lang="en-US" sz="1200" dirty="0"/>
          </a:p>
        </p:txBody>
      </p:sp>
      <p:sp>
        <p:nvSpPr>
          <p:cNvPr id="54" name="Text 51"/>
          <p:cNvSpPr txBox="1"/>
          <p:nvPr/>
        </p:nvSpPr>
        <p:spPr>
          <a:xfrm>
            <a:off x="4389120" y="5029200"/>
            <a:ext cx="32918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A21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Attribution is fixed at submission and never reassigned. Raw value, resolved code and source are stored with each application.</a:t>
            </a:r>
            <a:endParaRPr lang="en-US" sz="1050" dirty="0"/>
          </a:p>
        </p:txBody>
      </p:sp>
      <p:sp>
        <p:nvSpPr>
          <p:cNvPr id="55" name="Shape 52"/>
          <p:cNvSpPr/>
          <p:nvPr/>
        </p:nvSpPr>
        <p:spPr>
          <a:xfrm>
            <a:off x="8046720" y="4526280"/>
            <a:ext cx="356616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A214D"/>
            </a:solidFill>
            <a:prstDash val="solid"/>
          </a:ln>
        </p:spPr>
      </p:sp>
      <p:sp>
        <p:nvSpPr>
          <p:cNvPr id="56" name="Text 53"/>
          <p:cNvSpPr txBox="1"/>
          <p:nvPr/>
        </p:nvSpPr>
        <p:spPr>
          <a:xfrm>
            <a:off x="8183880" y="4636008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B7EF6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Same scope everywhere</a:t>
            </a:r>
            <a:endParaRPr lang="en-US" sz="1200" dirty="0"/>
          </a:p>
        </p:txBody>
      </p:sp>
      <p:sp>
        <p:nvSpPr>
          <p:cNvPr id="57" name="Text 54"/>
          <p:cNvSpPr txBox="1"/>
          <p:nvPr/>
        </p:nvSpPr>
        <p:spPr>
          <a:xfrm>
            <a:off x="8183880" y="5029200"/>
            <a:ext cx="32918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A21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Application Enquiry, Report Enquiry and exports apply the same pre-filter before every other filter.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515600" y="-2011680"/>
            <a:ext cx="4114800" cy="4114800"/>
          </a:xfrm>
          <a:prstGeom prst="ellipse">
            <a:avLst/>
          </a:prstGeom>
          <a:solidFill>
            <a:srgbClr val="1A214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228600" y="36576"/>
            <a:ext cx="10058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1A21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APPRO – INTERNAL &amp; APPROVED DOMAINS | Controlled Distribution</a:t>
            </a:r>
            <a:endParaRPr lang="en-US" sz="700" dirty="0"/>
          </a:p>
        </p:txBody>
      </p:sp>
      <p:pic>
        <p:nvPicPr>
          <p:cNvPr id="4" name="Image 0" descr="/tmp/claude-0/-home-user-Market-Place/2b50ca51-ff9a-5ef3-82e5-0106c808a1f3/scratchpad/deck/logo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98480" y="274320"/>
            <a:ext cx="1325880" cy="384503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228600" y="493776"/>
            <a:ext cx="1640434" cy="274320"/>
          </a:xfrm>
          <a:prstGeom prst="roundRect">
            <a:avLst>
              <a:gd name="adj" fmla="val 26667"/>
            </a:avLst>
          </a:prstGeom>
          <a:solidFill>
            <a:srgbClr val="FDBA23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274320" y="365760"/>
            <a:ext cx="1005840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A21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Who Sees</a:t>
            </a:r>
            <a:pPr algn="l" indent="0" marL="0">
              <a:buNone/>
            </a:pPr>
            <a:r>
              <a:rPr lang="en-US" sz="2000" b="1" dirty="0">
                <a:solidFill>
                  <a:srgbClr val="3B7EF6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 What · visibility by role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274320" y="6473952"/>
            <a:ext cx="164592" cy="164592"/>
          </a:xfrm>
          <a:prstGeom prst="ellipse">
            <a:avLst/>
          </a:prstGeom>
          <a:solidFill>
            <a:srgbClr val="3B7EF6"/>
          </a:solidFill>
          <a:ln/>
        </p:spPr>
      </p:sp>
      <p:sp>
        <p:nvSpPr>
          <p:cNvPr id="8" name="Shape 5"/>
          <p:cNvSpPr/>
          <p:nvPr/>
        </p:nvSpPr>
        <p:spPr>
          <a:xfrm>
            <a:off x="493776" y="6473952"/>
            <a:ext cx="164592" cy="164592"/>
          </a:xfrm>
          <a:prstGeom prst="ellipse">
            <a:avLst/>
          </a:prstGeom>
          <a:solidFill>
            <a:srgbClr val="3B7EF6"/>
          </a:solidFill>
          <a:ln/>
        </p:spPr>
      </p:sp>
      <p:sp>
        <p:nvSpPr>
          <p:cNvPr id="9" name="Shape 6"/>
          <p:cNvSpPr/>
          <p:nvPr/>
        </p:nvSpPr>
        <p:spPr>
          <a:xfrm>
            <a:off x="713232" y="6473952"/>
            <a:ext cx="164592" cy="164592"/>
          </a:xfrm>
          <a:prstGeom prst="ellipse">
            <a:avLst/>
          </a:prstGeom>
          <a:solidFill>
            <a:srgbClr val="3B7EF6"/>
          </a:solidFill>
          <a:ln/>
        </p:spPr>
      </p:sp>
      <p:sp>
        <p:nvSpPr>
          <p:cNvPr id="10" name="Shape 7"/>
          <p:cNvSpPr/>
          <p:nvPr/>
        </p:nvSpPr>
        <p:spPr>
          <a:xfrm>
            <a:off x="1023214" y="6473952"/>
            <a:ext cx="164592" cy="164592"/>
          </a:xfrm>
          <a:prstGeom prst="ellipse">
            <a:avLst/>
          </a:prstGeom>
          <a:solidFill>
            <a:srgbClr val="3B7EF6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1371600" y="6565392"/>
            <a:ext cx="9144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A21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This document is classified as INTERNAL &amp; WHITELISTED | Sharing allowed only with approved external domains</a:t>
            </a:r>
            <a:endParaRPr lang="en-US" sz="700" dirty="0"/>
          </a:p>
        </p:txBody>
      </p:sp>
      <p:sp>
        <p:nvSpPr>
          <p:cNvPr id="12" name="Text 9"/>
          <p:cNvSpPr txBox="1"/>
          <p:nvPr/>
        </p:nvSpPr>
        <p:spPr>
          <a:xfrm>
            <a:off x="11521440" y="656539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A21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704088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005840"/>
                <a:gridCol w="2194560"/>
                <a:gridCol w="228600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Role</a:t>
                      </a:r>
                      <a:endParaRPr lang="en-US" sz="10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64008" marR="6400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3B7E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Department</a:t>
                      </a:r>
                      <a:endParaRPr lang="en-US" sz="10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64008" marR="6400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3B7E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Application Enquiry &amp; Report Enquiry</a:t>
                      </a:r>
                      <a:endParaRPr lang="en-US" sz="10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64008" marR="6400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3B7E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What changes for them</a:t>
                      </a:r>
                      <a:endParaRPr lang="en-US" sz="10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64008" marR="6400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3B7EF6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214D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Sales staff</a:t>
                      </a:r>
                      <a:endParaRPr lang="en-US" sz="10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64008" marR="6400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214D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Sale</a:t>
                      </a:r>
                      <a:endParaRPr lang="en-US" sz="10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64008" marR="6400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214D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Own tagged applications only</a:t>
                      </a:r>
                      <a:endParaRPr lang="en-US" sz="10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64008" marR="6400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214D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Own book of business; IM005 "No results found" until the first tagged case</a:t>
                      </a:r>
                      <a:endParaRPr lang="en-US" sz="10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64008" marR="6400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214D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Sales manager</a:t>
                      </a:r>
                      <a:endParaRPr lang="en-US" sz="10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64008" marR="6400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F2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214D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Sale</a:t>
                      </a:r>
                      <a:endParaRPr lang="en-US" sz="10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64008" marR="6400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F2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214D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Own cases plus every user in the reporting subtree, unlimited depth</a:t>
                      </a:r>
                      <a:endParaRPr lang="en-US" sz="10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64008" marR="6400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F2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214D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Several managers per user are allowed; each manager sees the user's cases; updates in real time</a:t>
                      </a:r>
                      <a:endParaRPr lang="en-US" sz="10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64008" marR="6400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F2FF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214D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Operations, Credit, Admin, others</a:t>
                      </a:r>
                      <a:endParaRPr lang="en-US" sz="10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64008" marR="6400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214D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Any other</a:t>
                      </a:r>
                      <a:endParaRPr lang="en-US" sz="10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64008" marR="6400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214D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All applications, including untagged ones</a:t>
                      </a:r>
                      <a:endParaRPr lang="en-US" sz="10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64008" marR="6400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214D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Nothing: the existing View permission applies, no new permission, no migration grant</a:t>
                      </a:r>
                      <a:endParaRPr lang="en-US" sz="10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64008" marR="6400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Shape 10"/>
          <p:cNvSpPr/>
          <p:nvPr/>
        </p:nvSpPr>
        <p:spPr>
          <a:xfrm>
            <a:off x="7772400" y="1097280"/>
            <a:ext cx="3017520" cy="320040"/>
          </a:xfrm>
          <a:prstGeom prst="roundRect">
            <a:avLst>
              <a:gd name="adj" fmla="val 17143"/>
            </a:avLst>
          </a:prstGeom>
          <a:solidFill>
            <a:srgbClr val="3B7EF6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7772400" y="109728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Reporting hierarchy, unlimited depth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8458200" y="2139696"/>
            <a:ext cx="0" cy="877824"/>
          </a:xfrm>
          <a:prstGeom prst="line">
            <a:avLst/>
          </a:prstGeom>
          <a:noFill/>
          <a:ln w="19050">
            <a:solidFill>
              <a:srgbClr val="3B7EF6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 flipH="1">
            <a:off x="8458200" y="2139696"/>
            <a:ext cx="1645920" cy="877824"/>
          </a:xfrm>
          <a:prstGeom prst="line">
            <a:avLst/>
          </a:prstGeom>
          <a:noFill/>
          <a:ln w="19050">
            <a:solidFill>
              <a:srgbClr val="3B7EF6"/>
            </a:solidFill>
            <a:prstDash val="dash"/>
          </a:ln>
        </p:spPr>
      </p:sp>
      <p:sp>
        <p:nvSpPr>
          <p:cNvPr id="18" name="Shape 14"/>
          <p:cNvSpPr/>
          <p:nvPr/>
        </p:nvSpPr>
        <p:spPr>
          <a:xfrm>
            <a:off x="7772400" y="1737360"/>
            <a:ext cx="1371600" cy="402336"/>
          </a:xfrm>
          <a:prstGeom prst="roundRect">
            <a:avLst>
              <a:gd name="adj" fmla="val 22727"/>
            </a:avLst>
          </a:prstGeom>
          <a:solidFill>
            <a:srgbClr val="EDF2FF"/>
          </a:solidFill>
          <a:ln w="9525">
            <a:solidFill>
              <a:srgbClr val="3B7EF6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7772400" y="1737360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21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Jane Smith · Manager</a:t>
            </a:r>
            <a:endParaRPr lang="en-US" sz="950" dirty="0"/>
          </a:p>
        </p:txBody>
      </p:sp>
      <p:sp>
        <p:nvSpPr>
          <p:cNvPr id="20" name="Shape 16"/>
          <p:cNvSpPr/>
          <p:nvPr/>
        </p:nvSpPr>
        <p:spPr>
          <a:xfrm>
            <a:off x="9418320" y="1737360"/>
            <a:ext cx="1371600" cy="402336"/>
          </a:xfrm>
          <a:prstGeom prst="roundRect">
            <a:avLst>
              <a:gd name="adj" fmla="val 22727"/>
            </a:avLst>
          </a:prstGeom>
          <a:solidFill>
            <a:srgbClr val="EDF2FF"/>
          </a:solidFill>
          <a:ln w="9525">
            <a:solidFill>
              <a:srgbClr val="3B7EF6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9418320" y="1737360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21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John Doe · Manager</a:t>
            </a:r>
            <a:endParaRPr lang="en-US" sz="950" dirty="0"/>
          </a:p>
        </p:txBody>
      </p:sp>
      <p:sp>
        <p:nvSpPr>
          <p:cNvPr id="22" name="Shape 18"/>
          <p:cNvSpPr/>
          <p:nvPr/>
        </p:nvSpPr>
        <p:spPr>
          <a:xfrm>
            <a:off x="7772400" y="3017520"/>
            <a:ext cx="1371600" cy="402336"/>
          </a:xfrm>
          <a:prstGeom prst="roundRect">
            <a:avLst>
              <a:gd name="adj" fmla="val 22727"/>
            </a:avLst>
          </a:prstGeom>
          <a:solidFill>
            <a:srgbClr val="EDF2FF"/>
          </a:solidFill>
          <a:ln w="9525">
            <a:solidFill>
              <a:srgbClr val="3B7EF6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7772400" y="3017520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21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Alice Rahman · Staff</a:t>
            </a:r>
            <a:endParaRPr lang="en-US" sz="950" dirty="0"/>
          </a:p>
        </p:txBody>
      </p:sp>
      <p:sp>
        <p:nvSpPr>
          <p:cNvPr id="24" name="Shape 20"/>
          <p:cNvSpPr/>
          <p:nvPr/>
        </p:nvSpPr>
        <p:spPr>
          <a:xfrm>
            <a:off x="9418320" y="3017520"/>
            <a:ext cx="1371600" cy="402336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9525">
            <a:solidFill>
              <a:srgbClr val="1A214D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9418320" y="3017520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21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Khalid · Credit Ops</a:t>
            </a:r>
            <a:endParaRPr lang="en-US" sz="950" dirty="0"/>
          </a:p>
        </p:txBody>
      </p:sp>
      <p:sp>
        <p:nvSpPr>
          <p:cNvPr id="26" name="Text 22"/>
          <p:cNvSpPr txBox="1"/>
          <p:nvPr/>
        </p:nvSpPr>
        <p:spPr>
          <a:xfrm>
            <a:off x="7772400" y="361188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21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Alice reports to Jane (solid) and to John (dashed): both see her cases. Khalid is in Credit Operations, has no code and sees everything.</a:t>
            </a:r>
            <a:endParaRPr lang="en-US" sz="1000" dirty="0"/>
          </a:p>
        </p:txBody>
      </p:sp>
      <p:sp>
        <p:nvSpPr>
          <p:cNvPr id="27" name="Shape 23"/>
          <p:cNvSpPr/>
          <p:nvPr/>
        </p:nvSpPr>
        <p:spPr>
          <a:xfrm>
            <a:off x="457200" y="4526280"/>
            <a:ext cx="11247120" cy="731520"/>
          </a:xfrm>
          <a:prstGeom prst="roundRect">
            <a:avLst>
              <a:gd name="adj" fmla="val 12500"/>
            </a:avLst>
          </a:prstGeom>
          <a:solidFill>
            <a:srgbClr val="EDF2FF"/>
          </a:solidFill>
          <a:ln w="12700">
            <a:solidFill>
              <a:srgbClr val="3B7EF6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640080" y="452628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A21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Visibility scope (Department, Sale Agent Code, reporting subtree) is evaluated server-side from the user record on every request. A manager change or a department change takes effect on the next request, never on the next login.</a:t>
            </a:r>
            <a:endParaRPr lang="en-US" sz="1150" dirty="0"/>
          </a:p>
        </p:txBody>
      </p:sp>
      <p:sp>
        <p:nvSpPr>
          <p:cNvPr id="29" name="Shape 25"/>
          <p:cNvSpPr/>
          <p:nvPr/>
        </p:nvSpPr>
        <p:spPr>
          <a:xfrm>
            <a:off x="457200" y="5394960"/>
            <a:ext cx="5486400" cy="987552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9525">
            <a:solidFill>
              <a:srgbClr val="1A214D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594360" y="5504688"/>
            <a:ext cx="5212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B7EF6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Sale staff and managers</a:t>
            </a:r>
            <a:endParaRPr lang="en-US" sz="1200" dirty="0"/>
          </a:p>
        </p:txBody>
      </p:sp>
      <p:sp>
        <p:nvSpPr>
          <p:cNvPr id="31" name="Text 27"/>
          <p:cNvSpPr txBox="1"/>
          <p:nvPr/>
        </p:nvSpPr>
        <p:spPr>
          <a:xfrm>
            <a:off x="594360" y="589788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A21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Pre-filter applied before channel, product, status and search filters, on every enquiry screen.</a:t>
            </a:r>
            <a:endParaRPr lang="en-US" sz="1050" dirty="0"/>
          </a:p>
        </p:txBody>
      </p:sp>
      <p:sp>
        <p:nvSpPr>
          <p:cNvPr id="32" name="Shape 28"/>
          <p:cNvSpPr/>
          <p:nvPr/>
        </p:nvSpPr>
        <p:spPr>
          <a:xfrm>
            <a:off x="6217920" y="5394960"/>
            <a:ext cx="5486400" cy="987552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9525">
            <a:solidFill>
              <a:srgbClr val="1A214D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6355080" y="5504688"/>
            <a:ext cx="5212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B7EF6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Everyone else</a:t>
            </a:r>
            <a:endParaRPr lang="en-US" sz="1200" dirty="0"/>
          </a:p>
        </p:txBody>
      </p:sp>
      <p:sp>
        <p:nvSpPr>
          <p:cNvPr id="34" name="Text 30"/>
          <p:cNvSpPr txBox="1"/>
          <p:nvPr/>
        </p:nvSpPr>
        <p:spPr>
          <a:xfrm>
            <a:off x="6355080" y="589788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A21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Unfiltered, exactly as today. Untagged cases are visible here and only here.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515600" y="-2011680"/>
            <a:ext cx="4114800" cy="4114800"/>
          </a:xfrm>
          <a:prstGeom prst="ellipse">
            <a:avLst/>
          </a:prstGeom>
          <a:solidFill>
            <a:srgbClr val="1A214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228600" y="36576"/>
            <a:ext cx="10058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1A21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APPRO – INTERNAL &amp; APPROVED DOMAINS | Controlled Distribution</a:t>
            </a:r>
            <a:endParaRPr lang="en-US" sz="700" dirty="0"/>
          </a:p>
        </p:txBody>
      </p:sp>
      <p:pic>
        <p:nvPicPr>
          <p:cNvPr id="4" name="Image 0" descr="/tmp/claude-0/-home-user-Market-Place/2b50ca51-ff9a-5ef3-82e5-0106c808a1f3/scratchpad/deck/logo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98480" y="274320"/>
            <a:ext cx="1325880" cy="384503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228600" y="493776"/>
            <a:ext cx="1640434" cy="274320"/>
          </a:xfrm>
          <a:prstGeom prst="roundRect">
            <a:avLst>
              <a:gd name="adj" fmla="val 26667"/>
            </a:avLst>
          </a:prstGeom>
          <a:solidFill>
            <a:srgbClr val="FDBA23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274320" y="365760"/>
            <a:ext cx="1005840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A21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How a Case</a:t>
            </a:r>
            <a:pPr algn="l" indent="0" marL="0">
              <a:buNone/>
            </a:pPr>
            <a:r>
              <a:rPr lang="en-US" sz="2000" b="1" dirty="0">
                <a:solidFill>
                  <a:srgbClr val="3B7EF6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 Gets Tagged · three capture points, one rule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274320" y="6473952"/>
            <a:ext cx="164592" cy="164592"/>
          </a:xfrm>
          <a:prstGeom prst="ellipse">
            <a:avLst/>
          </a:prstGeom>
          <a:solidFill>
            <a:srgbClr val="3B7EF6"/>
          </a:solidFill>
          <a:ln/>
        </p:spPr>
      </p:sp>
      <p:sp>
        <p:nvSpPr>
          <p:cNvPr id="8" name="Shape 5"/>
          <p:cNvSpPr/>
          <p:nvPr/>
        </p:nvSpPr>
        <p:spPr>
          <a:xfrm>
            <a:off x="493776" y="6473952"/>
            <a:ext cx="164592" cy="164592"/>
          </a:xfrm>
          <a:prstGeom prst="ellipse">
            <a:avLst/>
          </a:prstGeom>
          <a:solidFill>
            <a:srgbClr val="3B7EF6"/>
          </a:solidFill>
          <a:ln/>
        </p:spPr>
      </p:sp>
      <p:sp>
        <p:nvSpPr>
          <p:cNvPr id="9" name="Shape 6"/>
          <p:cNvSpPr/>
          <p:nvPr/>
        </p:nvSpPr>
        <p:spPr>
          <a:xfrm>
            <a:off x="713232" y="6473952"/>
            <a:ext cx="164592" cy="164592"/>
          </a:xfrm>
          <a:prstGeom prst="ellipse">
            <a:avLst/>
          </a:prstGeom>
          <a:solidFill>
            <a:srgbClr val="3B7EF6"/>
          </a:solidFill>
          <a:ln/>
        </p:spPr>
      </p:sp>
      <p:sp>
        <p:nvSpPr>
          <p:cNvPr id="10" name="Shape 7"/>
          <p:cNvSpPr/>
          <p:nvPr/>
        </p:nvSpPr>
        <p:spPr>
          <a:xfrm>
            <a:off x="1023214" y="6473952"/>
            <a:ext cx="164592" cy="164592"/>
          </a:xfrm>
          <a:prstGeom prst="ellipse">
            <a:avLst/>
          </a:prstGeom>
          <a:solidFill>
            <a:srgbClr val="3B7EF6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1371600" y="6565392"/>
            <a:ext cx="9144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A21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This document is classified as INTERNAL &amp; WHITELISTED | Sharing allowed only with approved external domains</a:t>
            </a:r>
            <a:endParaRPr lang="en-US" sz="700" dirty="0"/>
          </a:p>
        </p:txBody>
      </p:sp>
      <p:sp>
        <p:nvSpPr>
          <p:cNvPr id="12" name="Text 9"/>
          <p:cNvSpPr txBox="1"/>
          <p:nvPr/>
        </p:nvSpPr>
        <p:spPr>
          <a:xfrm>
            <a:off x="11521440" y="656539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A21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5</a:t>
            </a:r>
            <a:endParaRPr lang="en-US" sz="800" dirty="0"/>
          </a:p>
        </p:txBody>
      </p:sp>
      <p:sp>
        <p:nvSpPr>
          <p:cNvPr id="13" name="Shape 10"/>
          <p:cNvSpPr/>
          <p:nvPr/>
        </p:nvSpPr>
        <p:spPr>
          <a:xfrm>
            <a:off x="457200" y="1097280"/>
            <a:ext cx="3246120" cy="1691640"/>
          </a:xfrm>
          <a:prstGeom prst="roundRect">
            <a:avLst>
              <a:gd name="adj" fmla="val 4324"/>
            </a:avLst>
          </a:prstGeom>
          <a:solidFill>
            <a:srgbClr val="EDF2FF"/>
          </a:solidFill>
          <a:ln w="9525">
            <a:solidFill>
              <a:srgbClr val="3B7EF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594360" y="1216152"/>
            <a:ext cx="310896" cy="310896"/>
          </a:xfrm>
          <a:prstGeom prst="ellipse">
            <a:avLst/>
          </a:prstGeom>
          <a:solidFill>
            <a:srgbClr val="FDBA23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594360" y="12161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21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1005840" y="1207008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7EF6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UTM link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594360" y="1600200"/>
            <a:ext cx="297180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A21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The bank shares its link with sale_agent_code=STF-042. The Distribution Portal captures it and passes it to the Bank Portal.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000500" y="1097280"/>
            <a:ext cx="3246120" cy="1691640"/>
          </a:xfrm>
          <a:prstGeom prst="roundRect">
            <a:avLst>
              <a:gd name="adj" fmla="val 4324"/>
            </a:avLst>
          </a:prstGeom>
          <a:solidFill>
            <a:srgbClr val="EDF2FF"/>
          </a:solidFill>
          <a:ln w="9525">
            <a:solidFill>
              <a:srgbClr val="3B7EF6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4137660" y="1216152"/>
            <a:ext cx="310896" cy="310896"/>
          </a:xfrm>
          <a:prstGeom prst="ellipse">
            <a:avLst/>
          </a:prstGeom>
          <a:solidFill>
            <a:srgbClr val="FDBA23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4137660" y="12161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21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2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4549140" y="1207008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7EF6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Referral Code pop-up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4137660" y="1600200"/>
            <a:ext cx="297180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A21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The customer types the code the salesperson gave them. Validated live against active Sale codes; an unknown code can be skipped.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7543800" y="1097280"/>
            <a:ext cx="3246120" cy="1691640"/>
          </a:xfrm>
          <a:prstGeom prst="roundRect">
            <a:avLst>
              <a:gd name="adj" fmla="val 4324"/>
            </a:avLst>
          </a:prstGeom>
          <a:solidFill>
            <a:srgbClr val="EDF2FF"/>
          </a:solidFill>
          <a:ln w="9525">
            <a:solidFill>
              <a:srgbClr val="3B7EF6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680960" y="1216152"/>
            <a:ext cx="310896" cy="310896"/>
          </a:xfrm>
          <a:prstGeom prst="ellipse">
            <a:avLst/>
          </a:prstGeom>
          <a:solidFill>
            <a:srgbClr val="FDBA23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7680960" y="12161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21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3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8092440" y="1207008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7EF6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Sales round-robin</a:t>
            </a:r>
            <a:endParaRPr lang="en-US" sz="1300" dirty="0"/>
          </a:p>
        </p:txBody>
      </p:sp>
      <p:sp>
        <p:nvSpPr>
          <p:cNvPr id="27" name="Text 24"/>
          <p:cNvSpPr txBox="1"/>
          <p:nvPr/>
        </p:nvSpPr>
        <p:spPr>
          <a:xfrm>
            <a:off x="7680960" y="1600200"/>
            <a:ext cx="297180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A21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No matching code? The Sale user with the lowest count, A to Z tiebreak, per channel and product, where a pool is configured.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457200" y="3017520"/>
            <a:ext cx="11247120" cy="731520"/>
          </a:xfrm>
          <a:prstGeom prst="roundRect">
            <a:avLst>
              <a:gd name="adj" fmla="val 12500"/>
            </a:avLst>
          </a:prstGeom>
          <a:solidFill>
            <a:srgbClr val="EDF2FF"/>
          </a:solidFill>
          <a:ln w="12700">
            <a:solidFill>
              <a:srgbClr val="FDBA23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40080" y="3017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A21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Precedence: the latest captured value that matches an active Sale Agent Code wins (canonical key, case- and separator-insensitive). Still no match: the case stays untagged, visible to non-Sale users, and ops receive an alert (ET51 pattern).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457200" y="3977640"/>
            <a:ext cx="35661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1A214D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594360" y="4087368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B7EF6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Immutable after submission</a:t>
            </a:r>
            <a:endParaRPr lang="en-US" sz="1200" dirty="0"/>
          </a:p>
        </p:txBody>
      </p:sp>
      <p:sp>
        <p:nvSpPr>
          <p:cNvPr id="32" name="Text 29"/>
          <p:cNvSpPr txBox="1"/>
          <p:nvPr/>
        </p:nvSpPr>
        <p:spPr>
          <a:xfrm>
            <a:off x="594360" y="4480560"/>
            <a:ext cx="329184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A21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No reassignment function. The tag survives deactivation and department changes, so history always resolves.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4251960" y="3977640"/>
            <a:ext cx="35661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1A214D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4389120" y="4087368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B7EF6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Every capture audited</a:t>
            </a:r>
            <a:endParaRPr lang="en-US" sz="1200" dirty="0"/>
          </a:p>
        </p:txBody>
      </p:sp>
      <p:sp>
        <p:nvSpPr>
          <p:cNvPr id="35" name="Text 32"/>
          <p:cNvSpPr txBox="1"/>
          <p:nvPr/>
        </p:nvSpPr>
        <p:spPr>
          <a:xfrm>
            <a:off x="4389120" y="4480560"/>
            <a:ext cx="329184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A21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Raw value, resolved code, source (UTM / Pop-up / Round-robin / Backfill) and timestamp are stored with the application.</a:t>
            </a:r>
            <a:endParaRPr lang="en-US" sz="1050" dirty="0"/>
          </a:p>
        </p:txBody>
      </p:sp>
      <p:sp>
        <p:nvSpPr>
          <p:cNvPr id="36" name="Shape 33"/>
          <p:cNvSpPr/>
          <p:nvPr/>
        </p:nvSpPr>
        <p:spPr>
          <a:xfrm>
            <a:off x="8046720" y="3977640"/>
            <a:ext cx="35661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1A214D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8183880" y="4087368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B7EF6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Optional by design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8183880" y="4480560"/>
            <a:ext cx="329184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A21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Both codes are optional, so not every application carries a code. Untagged cases are normal, not errors.</a:t>
            </a:r>
            <a:endParaRPr lang="en-US" sz="1050" dirty="0"/>
          </a:p>
        </p:txBody>
      </p:sp>
      <p:sp>
        <p:nvSpPr>
          <p:cNvPr id="39" name="Text 36"/>
          <p:cNvSpPr txBox="1"/>
          <p:nvPr/>
        </p:nvSpPr>
        <p:spPr>
          <a:xfrm>
            <a:off x="457200" y="55778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1A21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Go-live: historical applications whose stored referral code matches an active Sale Agent Code are tagged once (source = Backfill, audited). Nothing else is touched.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3B7E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rket-Place/2b50ca51-ff9a-5ef3-82e5-0106c808a1f3/scratchpad/deck/logo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274320"/>
            <a:ext cx="1097280" cy="318209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256032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2 · Screens &amp; Features</a:t>
            </a:r>
            <a:endParaRPr lang="en-US" sz="3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37490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Portal-faithful wireframes of the approved story</a:t>
            </a:r>
            <a:endParaRPr lang="en-US" sz="1400" dirty="0"/>
          </a:p>
        </p:txBody>
      </p:sp>
      <p:sp>
        <p:nvSpPr>
          <p:cNvPr id="5" name="Shape 2"/>
          <p:cNvSpPr/>
          <p:nvPr/>
        </p:nvSpPr>
        <p:spPr>
          <a:xfrm>
            <a:off x="10835640" y="6473952"/>
            <a:ext cx="164592" cy="16459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6" name="Shape 3"/>
          <p:cNvSpPr/>
          <p:nvPr/>
        </p:nvSpPr>
        <p:spPr>
          <a:xfrm>
            <a:off x="11055096" y="6473952"/>
            <a:ext cx="164592" cy="16459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7" name="Shape 4"/>
          <p:cNvSpPr/>
          <p:nvPr/>
        </p:nvSpPr>
        <p:spPr>
          <a:xfrm>
            <a:off x="11274552" y="6473952"/>
            <a:ext cx="164592" cy="16459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8" name="Shape 5"/>
          <p:cNvSpPr/>
          <p:nvPr/>
        </p:nvSpPr>
        <p:spPr>
          <a:xfrm>
            <a:off x="11584534" y="6473952"/>
            <a:ext cx="164592" cy="164592"/>
          </a:xfrm>
          <a:prstGeom prst="ellipse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515600" y="-2011680"/>
            <a:ext cx="4114800" cy="4114800"/>
          </a:xfrm>
          <a:prstGeom prst="ellipse">
            <a:avLst/>
          </a:prstGeom>
          <a:solidFill>
            <a:srgbClr val="1A214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228600" y="36576"/>
            <a:ext cx="10058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1A21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APPRO – INTERNAL &amp; APPROVED DOMAINS | Controlled Distribution</a:t>
            </a:r>
            <a:endParaRPr lang="en-US" sz="700" dirty="0"/>
          </a:p>
        </p:txBody>
      </p:sp>
      <p:pic>
        <p:nvPicPr>
          <p:cNvPr id="4" name="Image 0" descr="/tmp/claude-0/-home-user-Market-Place/2b50ca51-ff9a-5ef3-82e5-0106c808a1f3/scratchpad/deck/logo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98480" y="274320"/>
            <a:ext cx="1325880" cy="384503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228600" y="493776"/>
            <a:ext cx="1640434" cy="274320"/>
          </a:xfrm>
          <a:prstGeom prst="roundRect">
            <a:avLst>
              <a:gd name="adj" fmla="val 26667"/>
            </a:avLst>
          </a:prstGeom>
          <a:solidFill>
            <a:srgbClr val="FDBA23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274320" y="365760"/>
            <a:ext cx="1005840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A21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User</a:t>
            </a:r>
            <a:pPr algn="l" indent="0" marL="0">
              <a:buNone/>
            </a:pPr>
            <a:r>
              <a:rPr lang="en-US" sz="2000" b="1" dirty="0">
                <a:solidFill>
                  <a:srgbClr val="3B7EF6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 Management · Sale-only fields, list and details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274320" y="6473952"/>
            <a:ext cx="164592" cy="164592"/>
          </a:xfrm>
          <a:prstGeom prst="ellipse">
            <a:avLst/>
          </a:prstGeom>
          <a:solidFill>
            <a:srgbClr val="3B7EF6"/>
          </a:solidFill>
          <a:ln/>
        </p:spPr>
      </p:sp>
      <p:sp>
        <p:nvSpPr>
          <p:cNvPr id="8" name="Shape 5"/>
          <p:cNvSpPr/>
          <p:nvPr/>
        </p:nvSpPr>
        <p:spPr>
          <a:xfrm>
            <a:off x="493776" y="6473952"/>
            <a:ext cx="164592" cy="164592"/>
          </a:xfrm>
          <a:prstGeom prst="ellipse">
            <a:avLst/>
          </a:prstGeom>
          <a:solidFill>
            <a:srgbClr val="3B7EF6"/>
          </a:solidFill>
          <a:ln/>
        </p:spPr>
      </p:sp>
      <p:sp>
        <p:nvSpPr>
          <p:cNvPr id="9" name="Shape 6"/>
          <p:cNvSpPr/>
          <p:nvPr/>
        </p:nvSpPr>
        <p:spPr>
          <a:xfrm>
            <a:off x="713232" y="6473952"/>
            <a:ext cx="164592" cy="164592"/>
          </a:xfrm>
          <a:prstGeom prst="ellipse">
            <a:avLst/>
          </a:prstGeom>
          <a:solidFill>
            <a:srgbClr val="3B7EF6"/>
          </a:solidFill>
          <a:ln/>
        </p:spPr>
      </p:sp>
      <p:sp>
        <p:nvSpPr>
          <p:cNvPr id="10" name="Shape 7"/>
          <p:cNvSpPr/>
          <p:nvPr/>
        </p:nvSpPr>
        <p:spPr>
          <a:xfrm>
            <a:off x="1023214" y="6473952"/>
            <a:ext cx="164592" cy="164592"/>
          </a:xfrm>
          <a:prstGeom prst="ellipse">
            <a:avLst/>
          </a:prstGeom>
          <a:solidFill>
            <a:srgbClr val="3B7EF6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1371600" y="6565392"/>
            <a:ext cx="9144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A21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This document is classified as INTERNAL &amp; WHITELISTED | Sharing allowed only with approved external domains</a:t>
            </a:r>
            <a:endParaRPr lang="en-US" sz="700" dirty="0"/>
          </a:p>
        </p:txBody>
      </p:sp>
      <p:sp>
        <p:nvSpPr>
          <p:cNvPr id="12" name="Text 9"/>
          <p:cNvSpPr txBox="1"/>
          <p:nvPr/>
        </p:nvSpPr>
        <p:spPr>
          <a:xfrm>
            <a:off x="11521440" y="656539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A21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7</a:t>
            </a:r>
            <a:endParaRPr lang="en-US" sz="800" dirty="0"/>
          </a:p>
        </p:txBody>
      </p:sp>
      <p:sp>
        <p:nvSpPr>
          <p:cNvPr id="13" name="Shape 10"/>
          <p:cNvSpPr/>
          <p:nvPr/>
        </p:nvSpPr>
        <p:spPr>
          <a:xfrm>
            <a:off x="429768" y="1069848"/>
            <a:ext cx="7050024" cy="2708932"/>
          </a:xfrm>
          <a:prstGeom prst="roundRect">
            <a:avLst>
              <a:gd name="adj" fmla="val 3376"/>
            </a:avLst>
          </a:prstGeom>
          <a:solidFill>
            <a:srgbClr val="EDF2FF"/>
          </a:solidFill>
          <a:ln w="9525">
            <a:solidFill>
              <a:srgbClr val="3B7EF6"/>
            </a:solidFill>
            <a:prstDash val="solid"/>
          </a:ln>
        </p:spPr>
      </p:sp>
      <p:pic>
        <p:nvPicPr>
          <p:cNvPr id="14" name="Image 1" descr="/tmp/claude-0/-home-user-Market-Place/2b50ca51-ff9a-5ef3-82e5-0106c808a1f3/scratchpad/deck/w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143000"/>
            <a:ext cx="6903720" cy="2562628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502920" y="3739896"/>
            <a:ext cx="3337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1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List of Users — new columns</a:t>
            </a:r>
            <a:endParaRPr lang="en-US" sz="1000" dirty="0"/>
          </a:p>
        </p:txBody>
      </p:sp>
      <p:sp>
        <p:nvSpPr>
          <p:cNvPr id="16" name="Text 12"/>
          <p:cNvSpPr txBox="1"/>
          <p:nvPr/>
        </p:nvSpPr>
        <p:spPr>
          <a:xfrm>
            <a:off x="4069080" y="3739896"/>
            <a:ext cx="3337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1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User Details — read-only</a:t>
            </a:r>
            <a:endParaRPr lang="en-US" sz="1000" dirty="0"/>
          </a:p>
        </p:txBody>
      </p:sp>
      <p:sp>
        <p:nvSpPr>
          <p:cNvPr id="17" name="Shape 13"/>
          <p:cNvSpPr/>
          <p:nvPr/>
        </p:nvSpPr>
        <p:spPr>
          <a:xfrm>
            <a:off x="429768" y="4014216"/>
            <a:ext cx="3483864" cy="1533486"/>
          </a:xfrm>
          <a:prstGeom prst="roundRect">
            <a:avLst>
              <a:gd name="adj" fmla="val 5963"/>
            </a:avLst>
          </a:prstGeom>
          <a:solidFill>
            <a:srgbClr val="EDF2FF"/>
          </a:solidFill>
          <a:ln w="9525">
            <a:solidFill>
              <a:srgbClr val="3B7EF6"/>
            </a:solidFill>
            <a:prstDash val="solid"/>
          </a:ln>
        </p:spPr>
      </p:sp>
      <p:pic>
        <p:nvPicPr>
          <p:cNvPr id="18" name="Image 2" descr="/tmp/claude-0/-home-user-Market-Place/2b50ca51-ff9a-5ef3-82e5-0106c808a1f3/scratchpad/deck/w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4087368"/>
            <a:ext cx="3337560" cy="1387182"/>
          </a:xfrm>
          <a:prstGeom prst="rect">
            <a:avLst/>
          </a:prstGeom>
        </p:spPr>
      </p:pic>
      <p:sp>
        <p:nvSpPr>
          <p:cNvPr id="19" name="Shape 14"/>
          <p:cNvSpPr/>
          <p:nvPr/>
        </p:nvSpPr>
        <p:spPr>
          <a:xfrm>
            <a:off x="3995928" y="4014216"/>
            <a:ext cx="3483864" cy="1189292"/>
          </a:xfrm>
          <a:prstGeom prst="roundRect">
            <a:avLst>
              <a:gd name="adj" fmla="val 7689"/>
            </a:avLst>
          </a:prstGeom>
          <a:solidFill>
            <a:srgbClr val="EDF2FF"/>
          </a:solidFill>
          <a:ln w="9525">
            <a:solidFill>
              <a:srgbClr val="3B7EF6"/>
            </a:solidFill>
            <a:prstDash val="solid"/>
          </a:ln>
        </p:spPr>
      </p:sp>
      <p:pic>
        <p:nvPicPr>
          <p:cNvPr id="20" name="Image 3" descr="/tmp/claude-0/-home-user-Market-Place/2b50ca51-ff9a-5ef3-82e5-0106c808a1f3/scratchpad/deck/w2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69080" y="4087368"/>
            <a:ext cx="3337560" cy="1042988"/>
          </a:xfrm>
          <a:prstGeom prst="rect">
            <a:avLst/>
          </a:prstGeom>
        </p:spPr>
      </p:pic>
      <p:sp>
        <p:nvSpPr>
          <p:cNvPr id="21" name="Shape 15"/>
          <p:cNvSpPr/>
          <p:nvPr/>
        </p:nvSpPr>
        <p:spPr>
          <a:xfrm>
            <a:off x="502920" y="5669280"/>
            <a:ext cx="6903720" cy="640080"/>
          </a:xfrm>
          <a:prstGeom prst="roundRect">
            <a:avLst>
              <a:gd name="adj" fmla="val 14286"/>
            </a:avLst>
          </a:prstGeom>
          <a:solidFill>
            <a:srgbClr val="EDF2FF"/>
          </a:solidFill>
          <a:ln w="12700">
            <a:solidFill>
              <a:srgbClr val="FDBA23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685800" y="5669280"/>
            <a:ext cx="6537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1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Both fields appear only for Department = Sale. Sale Agent Code is free text, 1–24 characters, unique in the bank; Reporting Manager takes one or more active Sale users. Non-Sale users show "—" and keep full visibility.</a:t>
            </a:r>
            <a:endParaRPr lang="en-US" sz="1050" dirty="0"/>
          </a:p>
        </p:txBody>
      </p:sp>
      <p:sp>
        <p:nvSpPr>
          <p:cNvPr id="23" name="Shape 17"/>
          <p:cNvSpPr/>
          <p:nvPr/>
        </p:nvSpPr>
        <p:spPr>
          <a:xfrm>
            <a:off x="7772400" y="1097280"/>
            <a:ext cx="310896" cy="310896"/>
          </a:xfrm>
          <a:prstGeom prst="ellipse">
            <a:avLst/>
          </a:prstGeom>
          <a:solidFill>
            <a:srgbClr val="1A214D"/>
          </a:solidFill>
          <a:ln/>
        </p:spPr>
      </p:sp>
      <p:sp>
        <p:nvSpPr>
          <p:cNvPr id="24" name="Text 18"/>
          <p:cNvSpPr txBox="1"/>
          <p:nvPr/>
        </p:nvSpPr>
        <p:spPr>
          <a:xfrm>
            <a:off x="7772400" y="10972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8183880" y="1078992"/>
            <a:ext cx="2606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B7EF6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Shown only when Department = Sale</a:t>
            </a:r>
            <a:endParaRPr lang="en-US" sz="1200" dirty="0"/>
          </a:p>
        </p:txBody>
      </p:sp>
      <p:sp>
        <p:nvSpPr>
          <p:cNvPr id="26" name="Text 20"/>
          <p:cNvSpPr txBox="1"/>
          <p:nvPr/>
        </p:nvSpPr>
        <p:spPr>
          <a:xfrm>
            <a:off x="8183880" y="1426464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21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Any other department never sees the two fields and keeps full visibility.</a:t>
            </a:r>
            <a:endParaRPr lang="en-US" sz="1050" dirty="0"/>
          </a:p>
        </p:txBody>
      </p:sp>
      <p:sp>
        <p:nvSpPr>
          <p:cNvPr id="27" name="Shape 21"/>
          <p:cNvSpPr/>
          <p:nvPr/>
        </p:nvSpPr>
        <p:spPr>
          <a:xfrm>
            <a:off x="7772400" y="1975104"/>
            <a:ext cx="310896" cy="310896"/>
          </a:xfrm>
          <a:prstGeom prst="ellipse">
            <a:avLst/>
          </a:prstGeom>
          <a:solidFill>
            <a:srgbClr val="1A214D"/>
          </a:solidFill>
          <a:ln/>
        </p:spPr>
      </p:sp>
      <p:sp>
        <p:nvSpPr>
          <p:cNvPr id="28" name="Text 22"/>
          <p:cNvSpPr txBox="1"/>
          <p:nvPr/>
        </p:nvSpPr>
        <p:spPr>
          <a:xfrm>
            <a:off x="7772400" y="1975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2</a:t>
            </a:r>
            <a:endParaRPr lang="en-US" sz="1100" dirty="0"/>
          </a:p>
        </p:txBody>
      </p:sp>
      <p:sp>
        <p:nvSpPr>
          <p:cNvPr id="29" name="Text 23"/>
          <p:cNvSpPr txBox="1"/>
          <p:nvPr/>
        </p:nvSpPr>
        <p:spPr>
          <a:xfrm>
            <a:off x="8183880" y="1956816"/>
            <a:ext cx="2606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B7EF6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Sale Agent Code</a:t>
            </a:r>
            <a:endParaRPr lang="en-US" sz="1200" dirty="0"/>
          </a:p>
        </p:txBody>
      </p:sp>
      <p:sp>
        <p:nvSpPr>
          <p:cNvPr id="30" name="Text 24"/>
          <p:cNvSpPr txBox="1"/>
          <p:nvPr/>
        </p:nvSpPr>
        <p:spPr>
          <a:xfrm>
            <a:off x="8183880" y="2304288"/>
            <a:ext cx="260604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21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The bank's own Sales Code / Agent Code / Employee ID. Free text, unique, read-only once approved (IEM001).</a:t>
            </a:r>
            <a:endParaRPr lang="en-US" sz="1050" dirty="0"/>
          </a:p>
        </p:txBody>
      </p:sp>
      <p:sp>
        <p:nvSpPr>
          <p:cNvPr id="31" name="Shape 25"/>
          <p:cNvSpPr/>
          <p:nvPr/>
        </p:nvSpPr>
        <p:spPr>
          <a:xfrm>
            <a:off x="7772400" y="3026664"/>
            <a:ext cx="310896" cy="310896"/>
          </a:xfrm>
          <a:prstGeom prst="ellipse">
            <a:avLst/>
          </a:prstGeom>
          <a:solidFill>
            <a:srgbClr val="1A214D"/>
          </a:solidFill>
          <a:ln/>
        </p:spPr>
      </p:sp>
      <p:sp>
        <p:nvSpPr>
          <p:cNvPr id="32" name="Text 26"/>
          <p:cNvSpPr txBox="1"/>
          <p:nvPr/>
        </p:nvSpPr>
        <p:spPr>
          <a:xfrm>
            <a:off x="7772400" y="30266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3</a:t>
            </a:r>
            <a:endParaRPr lang="en-US" sz="1100" dirty="0"/>
          </a:p>
        </p:txBody>
      </p:sp>
      <p:sp>
        <p:nvSpPr>
          <p:cNvPr id="33" name="Text 27"/>
          <p:cNvSpPr txBox="1"/>
          <p:nvPr/>
        </p:nvSpPr>
        <p:spPr>
          <a:xfrm>
            <a:off x="8183880" y="3008376"/>
            <a:ext cx="2606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B7EF6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Reporting Manager, one or more</a:t>
            </a:r>
            <a:endParaRPr lang="en-US" sz="1200" dirty="0"/>
          </a:p>
        </p:txBody>
      </p:sp>
      <p:sp>
        <p:nvSpPr>
          <p:cNvPr id="34" name="Text 28"/>
          <p:cNvSpPr txBox="1"/>
          <p:nvPr/>
        </p:nvSpPr>
        <p:spPr>
          <a:xfrm>
            <a:off x="8183880" y="3355848"/>
            <a:ext cx="260604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21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Multi-select of active Sale users; a circular chain is blocked at any depth (IEM002).</a:t>
            </a:r>
            <a:endParaRPr lang="en-US" sz="1050" dirty="0"/>
          </a:p>
        </p:txBody>
      </p:sp>
      <p:sp>
        <p:nvSpPr>
          <p:cNvPr id="35" name="Shape 29"/>
          <p:cNvSpPr/>
          <p:nvPr/>
        </p:nvSpPr>
        <p:spPr>
          <a:xfrm>
            <a:off x="7772400" y="4078224"/>
            <a:ext cx="310896" cy="310896"/>
          </a:xfrm>
          <a:prstGeom prst="ellipse">
            <a:avLst/>
          </a:prstGeom>
          <a:solidFill>
            <a:srgbClr val="1A214D"/>
          </a:solidFill>
          <a:ln/>
        </p:spPr>
      </p:sp>
      <p:sp>
        <p:nvSpPr>
          <p:cNvPr id="36" name="Text 30"/>
          <p:cNvSpPr txBox="1"/>
          <p:nvPr/>
        </p:nvSpPr>
        <p:spPr>
          <a:xfrm>
            <a:off x="7772400" y="40782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4</a:t>
            </a:r>
            <a:endParaRPr lang="en-US" sz="1100" dirty="0"/>
          </a:p>
        </p:txBody>
      </p:sp>
      <p:sp>
        <p:nvSpPr>
          <p:cNvPr id="37" name="Text 31"/>
          <p:cNvSpPr txBox="1"/>
          <p:nvPr/>
        </p:nvSpPr>
        <p:spPr>
          <a:xfrm>
            <a:off x="8183880" y="4059936"/>
            <a:ext cx="2606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B7EF6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Two new columns</a:t>
            </a:r>
            <a:endParaRPr lang="en-US" sz="1200" dirty="0"/>
          </a:p>
        </p:txBody>
      </p:sp>
      <p:sp>
        <p:nvSpPr>
          <p:cNvPr id="38" name="Text 32"/>
          <p:cNvSpPr txBox="1"/>
          <p:nvPr/>
        </p:nvSpPr>
        <p:spPr>
          <a:xfrm>
            <a:off x="8183880" y="4407408"/>
            <a:ext cx="260604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21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Sale Agent Code and Reporting Manager after Department: sortable, filterable, searchable, exported.</a:t>
            </a:r>
            <a:endParaRPr lang="en-US" sz="1050" dirty="0"/>
          </a:p>
        </p:txBody>
      </p:sp>
      <p:sp>
        <p:nvSpPr>
          <p:cNvPr id="39" name="Shape 33"/>
          <p:cNvSpPr/>
          <p:nvPr/>
        </p:nvSpPr>
        <p:spPr>
          <a:xfrm>
            <a:off x="7772400" y="5129784"/>
            <a:ext cx="310896" cy="310896"/>
          </a:xfrm>
          <a:prstGeom prst="ellipse">
            <a:avLst/>
          </a:prstGeom>
          <a:solidFill>
            <a:srgbClr val="1A214D"/>
          </a:solidFill>
          <a:ln/>
        </p:spPr>
      </p:sp>
      <p:sp>
        <p:nvSpPr>
          <p:cNvPr id="40" name="Text 34"/>
          <p:cNvSpPr txBox="1"/>
          <p:nvPr/>
        </p:nvSpPr>
        <p:spPr>
          <a:xfrm>
            <a:off x="7772400" y="51297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5</a:t>
            </a:r>
            <a:endParaRPr lang="en-US" sz="1100" dirty="0"/>
          </a:p>
        </p:txBody>
      </p:sp>
      <p:sp>
        <p:nvSpPr>
          <p:cNvPr id="41" name="Text 35"/>
          <p:cNvSpPr txBox="1"/>
          <p:nvPr/>
        </p:nvSpPr>
        <p:spPr>
          <a:xfrm>
            <a:off x="8183880" y="5111496"/>
            <a:ext cx="2606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B7EF6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Read-only details, full control</a:t>
            </a:r>
            <a:endParaRPr lang="en-US" sz="1200" dirty="0"/>
          </a:p>
        </p:txBody>
      </p:sp>
      <p:sp>
        <p:nvSpPr>
          <p:cNvPr id="42" name="Text 36"/>
          <p:cNvSpPr txBox="1"/>
          <p:nvPr/>
        </p:nvSpPr>
        <p:spPr>
          <a:xfrm>
            <a:off x="8183880" y="5458968"/>
            <a:ext cx="260604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21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View Details shows the code and the manager list; "None" when empty. Every change is Maker/Checker.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515600" y="-2011680"/>
            <a:ext cx="4114800" cy="4114800"/>
          </a:xfrm>
          <a:prstGeom prst="ellipse">
            <a:avLst/>
          </a:prstGeom>
          <a:solidFill>
            <a:srgbClr val="1A214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228600" y="36576"/>
            <a:ext cx="10058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1A21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APPRO – INTERNAL &amp; APPROVED DOMAINS | Controlled Distribution</a:t>
            </a:r>
            <a:endParaRPr lang="en-US" sz="700" dirty="0"/>
          </a:p>
        </p:txBody>
      </p:sp>
      <p:pic>
        <p:nvPicPr>
          <p:cNvPr id="4" name="Image 0" descr="/tmp/claude-0/-home-user-Market-Place/2b50ca51-ff9a-5ef3-82e5-0106c808a1f3/scratchpad/deck/logo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98480" y="274320"/>
            <a:ext cx="1325880" cy="384503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228600" y="493776"/>
            <a:ext cx="1640434" cy="274320"/>
          </a:xfrm>
          <a:prstGeom prst="roundRect">
            <a:avLst>
              <a:gd name="adj" fmla="val 26667"/>
            </a:avLst>
          </a:prstGeom>
          <a:solidFill>
            <a:srgbClr val="FDBA23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274320" y="365760"/>
            <a:ext cx="1005840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A21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Application</a:t>
            </a:r>
            <a:pPr algn="l" indent="0" marL="0">
              <a:buNone/>
            </a:pPr>
            <a:r>
              <a:rPr lang="en-US" sz="2000" b="1" dirty="0">
                <a:solidFill>
                  <a:srgbClr val="3B7EF6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 Enquiry · the manager view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274320" y="6473952"/>
            <a:ext cx="164592" cy="164592"/>
          </a:xfrm>
          <a:prstGeom prst="ellipse">
            <a:avLst/>
          </a:prstGeom>
          <a:solidFill>
            <a:srgbClr val="3B7EF6"/>
          </a:solidFill>
          <a:ln/>
        </p:spPr>
      </p:sp>
      <p:sp>
        <p:nvSpPr>
          <p:cNvPr id="8" name="Shape 5"/>
          <p:cNvSpPr/>
          <p:nvPr/>
        </p:nvSpPr>
        <p:spPr>
          <a:xfrm>
            <a:off x="493776" y="6473952"/>
            <a:ext cx="164592" cy="164592"/>
          </a:xfrm>
          <a:prstGeom prst="ellipse">
            <a:avLst/>
          </a:prstGeom>
          <a:solidFill>
            <a:srgbClr val="3B7EF6"/>
          </a:solidFill>
          <a:ln/>
        </p:spPr>
      </p:sp>
      <p:sp>
        <p:nvSpPr>
          <p:cNvPr id="9" name="Shape 6"/>
          <p:cNvSpPr/>
          <p:nvPr/>
        </p:nvSpPr>
        <p:spPr>
          <a:xfrm>
            <a:off x="713232" y="6473952"/>
            <a:ext cx="164592" cy="164592"/>
          </a:xfrm>
          <a:prstGeom prst="ellipse">
            <a:avLst/>
          </a:prstGeom>
          <a:solidFill>
            <a:srgbClr val="3B7EF6"/>
          </a:solidFill>
          <a:ln/>
        </p:spPr>
      </p:sp>
      <p:sp>
        <p:nvSpPr>
          <p:cNvPr id="10" name="Shape 7"/>
          <p:cNvSpPr/>
          <p:nvPr/>
        </p:nvSpPr>
        <p:spPr>
          <a:xfrm>
            <a:off x="1023214" y="6473952"/>
            <a:ext cx="164592" cy="164592"/>
          </a:xfrm>
          <a:prstGeom prst="ellipse">
            <a:avLst/>
          </a:prstGeom>
          <a:solidFill>
            <a:srgbClr val="3B7EF6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1371600" y="6565392"/>
            <a:ext cx="9144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A21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This document is classified as INTERNAL &amp; WHITELISTED | Sharing allowed only with approved external domains</a:t>
            </a:r>
            <a:endParaRPr lang="en-US" sz="700" dirty="0"/>
          </a:p>
        </p:txBody>
      </p:sp>
      <p:sp>
        <p:nvSpPr>
          <p:cNvPr id="12" name="Text 9"/>
          <p:cNvSpPr txBox="1"/>
          <p:nvPr/>
        </p:nvSpPr>
        <p:spPr>
          <a:xfrm>
            <a:off x="11521440" y="656539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A21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8</a:t>
            </a:r>
            <a:endParaRPr lang="en-US" sz="800" dirty="0"/>
          </a:p>
        </p:txBody>
      </p:sp>
      <p:sp>
        <p:nvSpPr>
          <p:cNvPr id="13" name="Shape 10"/>
          <p:cNvSpPr/>
          <p:nvPr/>
        </p:nvSpPr>
        <p:spPr>
          <a:xfrm>
            <a:off x="429768" y="1069848"/>
            <a:ext cx="7050024" cy="2708932"/>
          </a:xfrm>
          <a:prstGeom prst="roundRect">
            <a:avLst>
              <a:gd name="adj" fmla="val 3376"/>
            </a:avLst>
          </a:prstGeom>
          <a:solidFill>
            <a:srgbClr val="EDF2FF"/>
          </a:solidFill>
          <a:ln w="9525">
            <a:solidFill>
              <a:srgbClr val="3B7EF6"/>
            </a:solidFill>
            <a:prstDash val="solid"/>
          </a:ln>
        </p:spPr>
      </p:sp>
      <p:pic>
        <p:nvPicPr>
          <p:cNvPr id="14" name="Image 1" descr="/tmp/claude-0/-home-user-Market-Place/2b50ca51-ff9a-5ef3-82e5-0106c808a1f3/scratchpad/deck/w4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143000"/>
            <a:ext cx="6903720" cy="2562628"/>
          </a:xfrm>
          <a:prstGeom prst="rect">
            <a:avLst/>
          </a:prstGeom>
        </p:spPr>
      </p:pic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3979948"/>
          <a:ext cx="6903720" cy="914400"/>
        </p:xfrm>
        <a:graphic>
          <a:graphicData uri="http://schemas.openxmlformats.org/drawingml/2006/table">
            <a:tbl>
              <a:tblPr/>
              <a:tblGrid>
                <a:gridCol w="2148840"/>
                <a:gridCol w="1463040"/>
                <a:gridCol w="1645920"/>
                <a:gridCol w="164592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Screen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64008" marR="6400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3B7E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Sales staff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64008" marR="6400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3B7E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Sales manager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64008" marR="6400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3B7E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Other departments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64008" marR="6400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3B7EF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14D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Application Enquiry (ACP-226/227)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64008" marR="6400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14D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Own tagged cases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64008" marR="6400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14D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Own + subtree, unlimited depth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64008" marR="6400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14D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All rows, untagged included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64008" marR="6400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14D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Report Enquiry + exports (ACP-230, 265/266/268)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64008" marR="6400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F2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14D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Own tagged cases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64008" marR="6400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F2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14D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Own + subtree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64008" marR="6400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F2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14D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All rows, unfiltered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64008" marR="6400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F2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14D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Sale Staff column and detail field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64008" marR="6400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14D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ON by default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64008" marR="6400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14D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ON by default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64008" marR="6400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14D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ON by default; "—" for untagged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64008" marR="6400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Shape 11"/>
          <p:cNvSpPr/>
          <p:nvPr/>
        </p:nvSpPr>
        <p:spPr>
          <a:xfrm>
            <a:off x="7772400" y="1097280"/>
            <a:ext cx="310896" cy="310896"/>
          </a:xfrm>
          <a:prstGeom prst="ellipse">
            <a:avLst/>
          </a:prstGeom>
          <a:solidFill>
            <a:srgbClr val="1A214D"/>
          </a:solidFill>
          <a:ln/>
        </p:spPr>
      </p:sp>
      <p:sp>
        <p:nvSpPr>
          <p:cNvPr id="17" name="Text 12"/>
          <p:cNvSpPr txBox="1"/>
          <p:nvPr/>
        </p:nvSpPr>
        <p:spPr>
          <a:xfrm>
            <a:off x="7772400" y="10972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</a:t>
            </a:r>
            <a:endParaRPr lang="en-US" sz="1100" dirty="0"/>
          </a:p>
        </p:txBody>
      </p:sp>
      <p:sp>
        <p:nvSpPr>
          <p:cNvPr id="18" name="Text 13"/>
          <p:cNvSpPr txBox="1"/>
          <p:nvPr/>
        </p:nvSpPr>
        <p:spPr>
          <a:xfrm>
            <a:off x="8183880" y="1078992"/>
            <a:ext cx="2606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B7EF6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Pre-filter first</a:t>
            </a:r>
            <a:endParaRPr lang="en-US" sz="1200" dirty="0"/>
          </a:p>
        </p:txBody>
      </p:sp>
      <p:sp>
        <p:nvSpPr>
          <p:cNvPr id="19" name="Text 14"/>
          <p:cNvSpPr txBox="1"/>
          <p:nvPr/>
        </p:nvSpPr>
        <p:spPr>
          <a:xfrm>
            <a:off x="8183880" y="1426464"/>
            <a:ext cx="2606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21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The visibility rule runs before channel, product, status and search filters. Default filters are identical for everyone.</a:t>
            </a:r>
            <a:endParaRPr lang="en-US" sz="1050" dirty="0"/>
          </a:p>
        </p:txBody>
      </p:sp>
      <p:sp>
        <p:nvSpPr>
          <p:cNvPr id="20" name="Shape 15"/>
          <p:cNvSpPr/>
          <p:nvPr/>
        </p:nvSpPr>
        <p:spPr>
          <a:xfrm>
            <a:off x="7772400" y="2322576"/>
            <a:ext cx="310896" cy="310896"/>
          </a:xfrm>
          <a:prstGeom prst="ellipse">
            <a:avLst/>
          </a:prstGeom>
          <a:solidFill>
            <a:srgbClr val="1A214D"/>
          </a:solidFill>
          <a:ln/>
        </p:spPr>
      </p:sp>
      <p:sp>
        <p:nvSpPr>
          <p:cNvPr id="21" name="Text 16"/>
          <p:cNvSpPr txBox="1"/>
          <p:nvPr/>
        </p:nvSpPr>
        <p:spPr>
          <a:xfrm>
            <a:off x="7772400" y="232257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2</a:t>
            </a:r>
            <a:endParaRPr lang="en-US" sz="1100" dirty="0"/>
          </a:p>
        </p:txBody>
      </p:sp>
      <p:sp>
        <p:nvSpPr>
          <p:cNvPr id="22" name="Text 17"/>
          <p:cNvSpPr txBox="1"/>
          <p:nvPr/>
        </p:nvSpPr>
        <p:spPr>
          <a:xfrm>
            <a:off x="8183880" y="2304288"/>
            <a:ext cx="2606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B7EF6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Sale Staff column</a:t>
            </a:r>
            <a:endParaRPr lang="en-US" sz="1200" dirty="0"/>
          </a:p>
        </p:txBody>
      </p:sp>
      <p:sp>
        <p:nvSpPr>
          <p:cNvPr id="23" name="Text 18"/>
          <p:cNvSpPr txBox="1"/>
          <p:nvPr/>
        </p:nvSpPr>
        <p:spPr>
          <a:xfrm>
            <a:off x="8183880" y="2651760"/>
            <a:ext cx="260604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21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ON by default for every user through Customize Table; the code itself is available as a column too.</a:t>
            </a:r>
            <a:endParaRPr lang="en-US" sz="1050" dirty="0"/>
          </a:p>
        </p:txBody>
      </p:sp>
      <p:sp>
        <p:nvSpPr>
          <p:cNvPr id="24" name="Shape 19"/>
          <p:cNvSpPr/>
          <p:nvPr/>
        </p:nvSpPr>
        <p:spPr>
          <a:xfrm>
            <a:off x="7772400" y="3374136"/>
            <a:ext cx="310896" cy="310896"/>
          </a:xfrm>
          <a:prstGeom prst="ellipse">
            <a:avLst/>
          </a:prstGeom>
          <a:solidFill>
            <a:srgbClr val="1A214D"/>
          </a:solidFill>
          <a:ln/>
        </p:spPr>
      </p:sp>
      <p:sp>
        <p:nvSpPr>
          <p:cNvPr id="25" name="Text 20"/>
          <p:cNvSpPr txBox="1"/>
          <p:nvPr/>
        </p:nvSpPr>
        <p:spPr>
          <a:xfrm>
            <a:off x="7772400" y="33741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3</a:t>
            </a:r>
            <a:endParaRPr lang="en-US" sz="1100" dirty="0"/>
          </a:p>
        </p:txBody>
      </p:sp>
      <p:sp>
        <p:nvSpPr>
          <p:cNvPr id="26" name="Text 21"/>
          <p:cNvSpPr txBox="1"/>
          <p:nvPr/>
        </p:nvSpPr>
        <p:spPr>
          <a:xfrm>
            <a:off x="8183880" y="3355848"/>
            <a:ext cx="2606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B7EF6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Manager sees the subtree</a:t>
            </a:r>
            <a:endParaRPr lang="en-US" sz="1200" dirty="0"/>
          </a:p>
        </p:txBody>
      </p:sp>
      <p:sp>
        <p:nvSpPr>
          <p:cNvPr id="27" name="Text 22"/>
          <p:cNvSpPr txBox="1"/>
          <p:nvPr/>
        </p:nvSpPr>
        <p:spPr>
          <a:xfrm>
            <a:off x="8183880" y="3703320"/>
            <a:ext cx="260604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21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Jane Smith sees her own cases and Alice Rahman's: 3 of 7 rows. Unlimited depth, real time.</a:t>
            </a:r>
            <a:endParaRPr lang="en-US" sz="1050" dirty="0"/>
          </a:p>
        </p:txBody>
      </p:sp>
      <p:sp>
        <p:nvSpPr>
          <p:cNvPr id="28" name="Shape 23"/>
          <p:cNvSpPr/>
          <p:nvPr/>
        </p:nvSpPr>
        <p:spPr>
          <a:xfrm>
            <a:off x="7772400" y="4425696"/>
            <a:ext cx="310896" cy="310896"/>
          </a:xfrm>
          <a:prstGeom prst="ellipse">
            <a:avLst/>
          </a:prstGeom>
          <a:solidFill>
            <a:srgbClr val="1A214D"/>
          </a:solidFill>
          <a:ln/>
        </p:spPr>
      </p:sp>
      <p:sp>
        <p:nvSpPr>
          <p:cNvPr id="29" name="Text 24"/>
          <p:cNvSpPr txBox="1"/>
          <p:nvPr/>
        </p:nvSpPr>
        <p:spPr>
          <a:xfrm>
            <a:off x="7772400" y="44256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Text 25"/>
          <p:cNvSpPr txBox="1"/>
          <p:nvPr/>
        </p:nvSpPr>
        <p:spPr>
          <a:xfrm>
            <a:off x="8183880" y="4407408"/>
            <a:ext cx="2606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B7EF6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Untagged shows "—"</a:t>
            </a:r>
            <a:endParaRPr lang="en-US" sz="1200" dirty="0"/>
          </a:p>
        </p:txBody>
      </p:sp>
      <p:sp>
        <p:nvSpPr>
          <p:cNvPr id="31" name="Text 26"/>
          <p:cNvSpPr txBox="1"/>
          <p:nvPr/>
        </p:nvSpPr>
        <p:spPr>
          <a:xfrm>
            <a:off x="8183880" y="4754880"/>
            <a:ext cx="260604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21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Visible to non-Sale users only. Report Enquiry and exports follow the same scope.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515600" y="-2011680"/>
            <a:ext cx="4114800" cy="4114800"/>
          </a:xfrm>
          <a:prstGeom prst="ellipse">
            <a:avLst/>
          </a:prstGeom>
          <a:solidFill>
            <a:srgbClr val="1A214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228600" y="36576"/>
            <a:ext cx="10058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1A21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APPRO – INTERNAL &amp; APPROVED DOMAINS | Controlled Distribution</a:t>
            </a:r>
            <a:endParaRPr lang="en-US" sz="700" dirty="0"/>
          </a:p>
        </p:txBody>
      </p:sp>
      <p:pic>
        <p:nvPicPr>
          <p:cNvPr id="4" name="Image 0" descr="/tmp/claude-0/-home-user-Market-Place/2b50ca51-ff9a-5ef3-82e5-0106c808a1f3/scratchpad/deck/logo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98480" y="274320"/>
            <a:ext cx="1325880" cy="384503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228600" y="493776"/>
            <a:ext cx="1640434" cy="274320"/>
          </a:xfrm>
          <a:prstGeom prst="roundRect">
            <a:avLst>
              <a:gd name="adj" fmla="val 26667"/>
            </a:avLst>
          </a:prstGeom>
          <a:solidFill>
            <a:srgbClr val="FDBA23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274320" y="365760"/>
            <a:ext cx="1005840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A21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Details</a:t>
            </a:r>
            <a:pPr algn="l" indent="0" marL="0">
              <a:buNone/>
            </a:pPr>
            <a:r>
              <a:rPr lang="en-US" sz="2000" b="1" dirty="0">
                <a:solidFill>
                  <a:srgbClr val="3B7EF6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 &amp; Checker · audit and approval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274320" y="6473952"/>
            <a:ext cx="164592" cy="164592"/>
          </a:xfrm>
          <a:prstGeom prst="ellipse">
            <a:avLst/>
          </a:prstGeom>
          <a:solidFill>
            <a:srgbClr val="3B7EF6"/>
          </a:solidFill>
          <a:ln/>
        </p:spPr>
      </p:sp>
      <p:sp>
        <p:nvSpPr>
          <p:cNvPr id="8" name="Shape 5"/>
          <p:cNvSpPr/>
          <p:nvPr/>
        </p:nvSpPr>
        <p:spPr>
          <a:xfrm>
            <a:off x="493776" y="6473952"/>
            <a:ext cx="164592" cy="164592"/>
          </a:xfrm>
          <a:prstGeom prst="ellipse">
            <a:avLst/>
          </a:prstGeom>
          <a:solidFill>
            <a:srgbClr val="3B7EF6"/>
          </a:solidFill>
          <a:ln/>
        </p:spPr>
      </p:sp>
      <p:sp>
        <p:nvSpPr>
          <p:cNvPr id="9" name="Shape 6"/>
          <p:cNvSpPr/>
          <p:nvPr/>
        </p:nvSpPr>
        <p:spPr>
          <a:xfrm>
            <a:off x="713232" y="6473952"/>
            <a:ext cx="164592" cy="164592"/>
          </a:xfrm>
          <a:prstGeom prst="ellipse">
            <a:avLst/>
          </a:prstGeom>
          <a:solidFill>
            <a:srgbClr val="3B7EF6"/>
          </a:solidFill>
          <a:ln/>
        </p:spPr>
      </p:sp>
      <p:sp>
        <p:nvSpPr>
          <p:cNvPr id="10" name="Shape 7"/>
          <p:cNvSpPr/>
          <p:nvPr/>
        </p:nvSpPr>
        <p:spPr>
          <a:xfrm>
            <a:off x="1023214" y="6473952"/>
            <a:ext cx="164592" cy="164592"/>
          </a:xfrm>
          <a:prstGeom prst="ellipse">
            <a:avLst/>
          </a:prstGeom>
          <a:solidFill>
            <a:srgbClr val="3B7EF6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1371600" y="6565392"/>
            <a:ext cx="9144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A21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This document is classified as INTERNAL &amp; WHITELISTED | Sharing allowed only with approved external domains</a:t>
            </a:r>
            <a:endParaRPr lang="en-US" sz="700" dirty="0"/>
          </a:p>
        </p:txBody>
      </p:sp>
      <p:sp>
        <p:nvSpPr>
          <p:cNvPr id="12" name="Text 9"/>
          <p:cNvSpPr txBox="1"/>
          <p:nvPr/>
        </p:nvSpPr>
        <p:spPr>
          <a:xfrm>
            <a:off x="11521440" y="656539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A21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9</a:t>
            </a:r>
            <a:endParaRPr lang="en-US" sz="800" dirty="0"/>
          </a:p>
        </p:txBody>
      </p:sp>
      <p:sp>
        <p:nvSpPr>
          <p:cNvPr id="13" name="Shape 10"/>
          <p:cNvSpPr/>
          <p:nvPr/>
        </p:nvSpPr>
        <p:spPr>
          <a:xfrm>
            <a:off x="429768" y="1069848"/>
            <a:ext cx="3483864" cy="1948442"/>
          </a:xfrm>
          <a:prstGeom prst="roundRect">
            <a:avLst>
              <a:gd name="adj" fmla="val 4693"/>
            </a:avLst>
          </a:prstGeom>
          <a:solidFill>
            <a:srgbClr val="EDF2FF"/>
          </a:solidFill>
          <a:ln w="9525">
            <a:solidFill>
              <a:srgbClr val="3B7EF6"/>
            </a:solidFill>
            <a:prstDash val="solid"/>
          </a:ln>
        </p:spPr>
      </p:sp>
      <p:pic>
        <p:nvPicPr>
          <p:cNvPr id="14" name="Image 1" descr="/tmp/claude-0/-home-user-Market-Place/2b50ca51-ff9a-5ef3-82e5-0106c808a1f3/scratchpad/deck/w5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143000"/>
            <a:ext cx="3337560" cy="1802138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3995928" y="1069848"/>
            <a:ext cx="3483864" cy="1759431"/>
          </a:xfrm>
          <a:prstGeom prst="roundRect">
            <a:avLst>
              <a:gd name="adj" fmla="val 5197"/>
            </a:avLst>
          </a:prstGeom>
          <a:solidFill>
            <a:srgbClr val="EDF2FF"/>
          </a:solidFill>
          <a:ln w="9525">
            <a:solidFill>
              <a:srgbClr val="3B7EF6"/>
            </a:solidFill>
            <a:prstDash val="solid"/>
          </a:ln>
        </p:spPr>
      </p:sp>
      <p:pic>
        <p:nvPicPr>
          <p:cNvPr id="16" name="Image 2" descr="/tmp/claude-0/-home-user-Market-Place/2b50ca51-ff9a-5ef3-82e5-0106c808a1f3/scratchpad/deck/w6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9080" y="1143000"/>
            <a:ext cx="3337560" cy="1613127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502920" y="3265178"/>
            <a:ext cx="6903720" cy="731520"/>
          </a:xfrm>
          <a:prstGeom prst="roundRect">
            <a:avLst>
              <a:gd name="adj" fmla="val 12500"/>
            </a:avLst>
          </a:prstGeom>
          <a:solidFill>
            <a:srgbClr val="EDF2FF"/>
          </a:solidFill>
          <a:ln w="12700">
            <a:solidFill>
              <a:srgbClr val="FDBA23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685800" y="3265178"/>
            <a:ext cx="6537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1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First audit-trail entry, written at submission: "Assigned to [Staff Name] via [UTM / Pop-up / Round-robin / Backfill]" with the Sale Agent Code and the time.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502920" y="4225298"/>
            <a:ext cx="217932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9525">
            <a:solidFill>
              <a:srgbClr val="1A214D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640080" y="4335026"/>
            <a:ext cx="1905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B7EF6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Raw value received</a:t>
            </a:r>
            <a:endParaRPr lang="en-US" sz="1200" dirty="0"/>
          </a:p>
        </p:txBody>
      </p:sp>
      <p:sp>
        <p:nvSpPr>
          <p:cNvPr id="21" name="Text 16"/>
          <p:cNvSpPr txBox="1"/>
          <p:nvPr/>
        </p:nvSpPr>
        <p:spPr>
          <a:xfrm>
            <a:off x="640080" y="4728218"/>
            <a:ext cx="1905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A21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Exactly as typed in the pop-up or carried in the link.</a:t>
            </a:r>
            <a:endParaRPr lang="en-US" sz="1050" dirty="0"/>
          </a:p>
        </p:txBody>
      </p:sp>
      <p:sp>
        <p:nvSpPr>
          <p:cNvPr id="22" name="Shape 17"/>
          <p:cNvSpPr/>
          <p:nvPr/>
        </p:nvSpPr>
        <p:spPr>
          <a:xfrm>
            <a:off x="2865120" y="4225298"/>
            <a:ext cx="217932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9525">
            <a:solidFill>
              <a:srgbClr val="1A214D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3002280" y="4335026"/>
            <a:ext cx="1905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B7EF6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Resolved Sale Agent Code</a:t>
            </a:r>
            <a:endParaRPr lang="en-US" sz="1200" dirty="0"/>
          </a:p>
        </p:txBody>
      </p:sp>
      <p:sp>
        <p:nvSpPr>
          <p:cNvPr id="24" name="Text 19"/>
          <p:cNvSpPr txBox="1"/>
          <p:nvPr/>
        </p:nvSpPr>
        <p:spPr>
          <a:xfrm>
            <a:off x="3002280" y="4728218"/>
            <a:ext cx="1905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A21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Matched on the canonical key against active Sale users.</a:t>
            </a:r>
            <a:endParaRPr lang="en-US" sz="1050" dirty="0"/>
          </a:p>
        </p:txBody>
      </p:sp>
      <p:sp>
        <p:nvSpPr>
          <p:cNvPr id="25" name="Shape 20"/>
          <p:cNvSpPr/>
          <p:nvPr/>
        </p:nvSpPr>
        <p:spPr>
          <a:xfrm>
            <a:off x="5227320" y="4225298"/>
            <a:ext cx="217932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9525">
            <a:solidFill>
              <a:srgbClr val="1A214D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5364480" y="4335026"/>
            <a:ext cx="1905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B7EF6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Source and timestamp</a:t>
            </a:r>
            <a:endParaRPr lang="en-US" sz="1200" dirty="0"/>
          </a:p>
        </p:txBody>
      </p:sp>
      <p:sp>
        <p:nvSpPr>
          <p:cNvPr id="27" name="Text 22"/>
          <p:cNvSpPr txBox="1"/>
          <p:nvPr/>
        </p:nvSpPr>
        <p:spPr>
          <a:xfrm>
            <a:off x="5364480" y="4728218"/>
            <a:ext cx="1905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A21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UTM, Pop-up, Round-robin or Backfill, and when it was captured.</a:t>
            </a:r>
            <a:endParaRPr lang="en-US" sz="1050" dirty="0"/>
          </a:p>
        </p:txBody>
      </p:sp>
      <p:sp>
        <p:nvSpPr>
          <p:cNvPr id="28" name="Shape 23"/>
          <p:cNvSpPr/>
          <p:nvPr/>
        </p:nvSpPr>
        <p:spPr>
          <a:xfrm>
            <a:off x="7772400" y="1097280"/>
            <a:ext cx="310896" cy="310896"/>
          </a:xfrm>
          <a:prstGeom prst="ellipse">
            <a:avLst/>
          </a:prstGeom>
          <a:solidFill>
            <a:srgbClr val="1A214D"/>
          </a:solidFill>
          <a:ln/>
        </p:spPr>
      </p:sp>
      <p:sp>
        <p:nvSpPr>
          <p:cNvPr id="29" name="Text 24"/>
          <p:cNvSpPr txBox="1"/>
          <p:nvPr/>
        </p:nvSpPr>
        <p:spPr>
          <a:xfrm>
            <a:off x="7772400" y="10972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</a:t>
            </a:r>
            <a:endParaRPr lang="en-US" sz="1100" dirty="0"/>
          </a:p>
        </p:txBody>
      </p:sp>
      <p:sp>
        <p:nvSpPr>
          <p:cNvPr id="30" name="Text 25"/>
          <p:cNvSpPr txBox="1"/>
          <p:nvPr/>
        </p:nvSpPr>
        <p:spPr>
          <a:xfrm>
            <a:off x="8183880" y="1078992"/>
            <a:ext cx="2606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B7EF6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Sale Staff on the case</a:t>
            </a:r>
            <a:endParaRPr lang="en-US" sz="1200" dirty="0"/>
          </a:p>
        </p:txBody>
      </p:sp>
      <p:sp>
        <p:nvSpPr>
          <p:cNvPr id="31" name="Text 26"/>
          <p:cNvSpPr txBox="1"/>
          <p:nvPr/>
        </p:nvSpPr>
        <p:spPr>
          <a:xfrm>
            <a:off x="8183880" y="1426464"/>
            <a:ext cx="260604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21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Full name and code on Application Details; the first audit-trail entry records who was assigned, how, and when.</a:t>
            </a:r>
            <a:endParaRPr lang="en-US" sz="1050" dirty="0"/>
          </a:p>
        </p:txBody>
      </p:sp>
      <p:sp>
        <p:nvSpPr>
          <p:cNvPr id="32" name="Shape 27"/>
          <p:cNvSpPr/>
          <p:nvPr/>
        </p:nvSpPr>
        <p:spPr>
          <a:xfrm>
            <a:off x="7772400" y="2148840"/>
            <a:ext cx="310896" cy="310896"/>
          </a:xfrm>
          <a:prstGeom prst="ellipse">
            <a:avLst/>
          </a:prstGeom>
          <a:solidFill>
            <a:srgbClr val="1A214D"/>
          </a:solidFill>
          <a:ln/>
        </p:spPr>
      </p:sp>
      <p:sp>
        <p:nvSpPr>
          <p:cNvPr id="33" name="Text 28"/>
          <p:cNvSpPr txBox="1"/>
          <p:nvPr/>
        </p:nvSpPr>
        <p:spPr>
          <a:xfrm>
            <a:off x="7772400" y="21488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2</a:t>
            </a:r>
            <a:endParaRPr lang="en-US" sz="1100" dirty="0"/>
          </a:p>
        </p:txBody>
      </p:sp>
      <p:sp>
        <p:nvSpPr>
          <p:cNvPr id="34" name="Text 29"/>
          <p:cNvSpPr txBox="1"/>
          <p:nvPr/>
        </p:nvSpPr>
        <p:spPr>
          <a:xfrm>
            <a:off x="8183880" y="2130552"/>
            <a:ext cx="2606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B7EF6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Source you can trust</a:t>
            </a:r>
            <a:endParaRPr lang="en-US" sz="1200" dirty="0"/>
          </a:p>
        </p:txBody>
      </p:sp>
      <p:sp>
        <p:nvSpPr>
          <p:cNvPr id="35" name="Text 30"/>
          <p:cNvSpPr txBox="1"/>
          <p:nvPr/>
        </p:nvSpPr>
        <p:spPr>
          <a:xfrm>
            <a:off x="8183880" y="2478024"/>
            <a:ext cx="260604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21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UTM, Pop-up, Round-robin or Backfill is stored next to the raw value received.</a:t>
            </a:r>
            <a:endParaRPr lang="en-US" sz="1050" dirty="0"/>
          </a:p>
        </p:txBody>
      </p:sp>
      <p:sp>
        <p:nvSpPr>
          <p:cNvPr id="36" name="Shape 31"/>
          <p:cNvSpPr/>
          <p:nvPr/>
        </p:nvSpPr>
        <p:spPr>
          <a:xfrm>
            <a:off x="7772400" y="3200400"/>
            <a:ext cx="310896" cy="310896"/>
          </a:xfrm>
          <a:prstGeom prst="ellipse">
            <a:avLst/>
          </a:prstGeom>
          <a:solidFill>
            <a:srgbClr val="1A214D"/>
          </a:solidFill>
          <a:ln/>
        </p:spPr>
      </p:sp>
      <p:sp>
        <p:nvSpPr>
          <p:cNvPr id="37" name="Text 32"/>
          <p:cNvSpPr txBox="1"/>
          <p:nvPr/>
        </p:nvSpPr>
        <p:spPr>
          <a:xfrm>
            <a:off x="7772400" y="32004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3</a:t>
            </a:r>
            <a:endParaRPr lang="en-US" sz="1100" dirty="0"/>
          </a:p>
        </p:txBody>
      </p:sp>
      <p:sp>
        <p:nvSpPr>
          <p:cNvPr id="38" name="Text 33"/>
          <p:cNvSpPr txBox="1"/>
          <p:nvPr/>
        </p:nvSpPr>
        <p:spPr>
          <a:xfrm>
            <a:off x="8183880" y="3182112"/>
            <a:ext cx="2606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B7EF6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Old / new comparison</a:t>
            </a:r>
            <a:endParaRPr lang="en-US" sz="1200" dirty="0"/>
          </a:p>
        </p:txBody>
      </p:sp>
      <p:sp>
        <p:nvSpPr>
          <p:cNvPr id="39" name="Text 34"/>
          <p:cNvSpPr txBox="1"/>
          <p:nvPr/>
        </p:nvSpPr>
        <p:spPr>
          <a:xfrm>
            <a:off x="8183880" y="3529584"/>
            <a:ext cx="260604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21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Checker Detail shows the code and the manager list before and after, first-time assignments included.</a:t>
            </a:r>
            <a:endParaRPr lang="en-US" sz="1050" dirty="0"/>
          </a:p>
        </p:txBody>
      </p:sp>
      <p:sp>
        <p:nvSpPr>
          <p:cNvPr id="40" name="Shape 35"/>
          <p:cNvSpPr/>
          <p:nvPr/>
        </p:nvSpPr>
        <p:spPr>
          <a:xfrm>
            <a:off x="7772400" y="4251960"/>
            <a:ext cx="310896" cy="310896"/>
          </a:xfrm>
          <a:prstGeom prst="ellipse">
            <a:avLst/>
          </a:prstGeom>
          <a:solidFill>
            <a:srgbClr val="1A214D"/>
          </a:solidFill>
          <a:ln/>
        </p:spPr>
      </p:sp>
      <p:sp>
        <p:nvSpPr>
          <p:cNvPr id="41" name="Text 36"/>
          <p:cNvSpPr txBox="1"/>
          <p:nvPr/>
        </p:nvSpPr>
        <p:spPr>
          <a:xfrm>
            <a:off x="7772400" y="42519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4</a:t>
            </a:r>
            <a:endParaRPr lang="en-US" sz="1100" dirty="0"/>
          </a:p>
        </p:txBody>
      </p:sp>
      <p:sp>
        <p:nvSpPr>
          <p:cNvPr id="42" name="Text 37"/>
          <p:cNvSpPr txBox="1"/>
          <p:nvPr/>
        </p:nvSpPr>
        <p:spPr>
          <a:xfrm>
            <a:off x="8183880" y="4233672"/>
            <a:ext cx="2606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B7EF6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Approve re-validates</a:t>
            </a:r>
            <a:endParaRPr lang="en-US" sz="1200" dirty="0"/>
          </a:p>
        </p:txBody>
      </p:sp>
      <p:sp>
        <p:nvSpPr>
          <p:cNvPr id="43" name="Text 38"/>
          <p:cNvSpPr txBox="1"/>
          <p:nvPr/>
        </p:nvSpPr>
        <p:spPr>
          <a:xfrm>
            <a:off x="8183880" y="4581144"/>
            <a:ext cx="260604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21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IEM001 and IEM002 run again at approval, so two concurrent requests cannot land a duplicate or a cycle.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515600" y="-2011680"/>
            <a:ext cx="4114800" cy="4114800"/>
          </a:xfrm>
          <a:prstGeom prst="ellipse">
            <a:avLst/>
          </a:prstGeom>
          <a:solidFill>
            <a:srgbClr val="1A214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228600" y="36576"/>
            <a:ext cx="10058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1A21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APPRO – INTERNAL &amp; APPROVED DOMAINS | Controlled Distribution</a:t>
            </a:r>
            <a:endParaRPr lang="en-US" sz="700" dirty="0"/>
          </a:p>
        </p:txBody>
      </p:sp>
      <p:pic>
        <p:nvPicPr>
          <p:cNvPr id="4" name="Image 0" descr="/tmp/claude-0/-home-user-Market-Place/2b50ca51-ff9a-5ef3-82e5-0106c808a1f3/scratchpad/deck/logo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98480" y="274320"/>
            <a:ext cx="1325880" cy="384503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228600" y="493776"/>
            <a:ext cx="1640434" cy="274320"/>
          </a:xfrm>
          <a:prstGeom prst="roundRect">
            <a:avLst>
              <a:gd name="adj" fmla="val 26667"/>
            </a:avLst>
          </a:prstGeom>
          <a:solidFill>
            <a:srgbClr val="FDBA23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274320" y="365760"/>
            <a:ext cx="1005840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A21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Customer</a:t>
            </a:r>
            <a:pPr algn="l" indent="0" marL="0">
              <a:buNone/>
            </a:pPr>
            <a:r>
              <a:rPr lang="en-US" sz="2000" b="1" dirty="0">
                <a:solidFill>
                  <a:srgbClr val="3B7EF6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 Pop-up &amp; Guardrails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274320" y="6473952"/>
            <a:ext cx="164592" cy="164592"/>
          </a:xfrm>
          <a:prstGeom prst="ellipse">
            <a:avLst/>
          </a:prstGeom>
          <a:solidFill>
            <a:srgbClr val="3B7EF6"/>
          </a:solidFill>
          <a:ln/>
        </p:spPr>
      </p:sp>
      <p:sp>
        <p:nvSpPr>
          <p:cNvPr id="8" name="Shape 5"/>
          <p:cNvSpPr/>
          <p:nvPr/>
        </p:nvSpPr>
        <p:spPr>
          <a:xfrm>
            <a:off x="493776" y="6473952"/>
            <a:ext cx="164592" cy="164592"/>
          </a:xfrm>
          <a:prstGeom prst="ellipse">
            <a:avLst/>
          </a:prstGeom>
          <a:solidFill>
            <a:srgbClr val="3B7EF6"/>
          </a:solidFill>
          <a:ln/>
        </p:spPr>
      </p:sp>
      <p:sp>
        <p:nvSpPr>
          <p:cNvPr id="9" name="Shape 6"/>
          <p:cNvSpPr/>
          <p:nvPr/>
        </p:nvSpPr>
        <p:spPr>
          <a:xfrm>
            <a:off x="713232" y="6473952"/>
            <a:ext cx="164592" cy="164592"/>
          </a:xfrm>
          <a:prstGeom prst="ellipse">
            <a:avLst/>
          </a:prstGeom>
          <a:solidFill>
            <a:srgbClr val="3B7EF6"/>
          </a:solidFill>
          <a:ln/>
        </p:spPr>
      </p:sp>
      <p:sp>
        <p:nvSpPr>
          <p:cNvPr id="10" name="Shape 7"/>
          <p:cNvSpPr/>
          <p:nvPr/>
        </p:nvSpPr>
        <p:spPr>
          <a:xfrm>
            <a:off x="1023214" y="6473952"/>
            <a:ext cx="164592" cy="164592"/>
          </a:xfrm>
          <a:prstGeom prst="ellipse">
            <a:avLst/>
          </a:prstGeom>
          <a:solidFill>
            <a:srgbClr val="3B7EF6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1371600" y="6565392"/>
            <a:ext cx="9144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A21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This document is classified as INTERNAL &amp; WHITELISTED | Sharing allowed only with approved external domains</a:t>
            </a:r>
            <a:endParaRPr lang="en-US" sz="700" dirty="0"/>
          </a:p>
        </p:txBody>
      </p:sp>
      <p:sp>
        <p:nvSpPr>
          <p:cNvPr id="12" name="Text 9"/>
          <p:cNvSpPr txBox="1"/>
          <p:nvPr/>
        </p:nvSpPr>
        <p:spPr>
          <a:xfrm>
            <a:off x="11521440" y="656539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A21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10</a:t>
            </a:r>
            <a:endParaRPr lang="en-US" sz="800" dirty="0"/>
          </a:p>
        </p:txBody>
      </p:sp>
      <p:sp>
        <p:nvSpPr>
          <p:cNvPr id="13" name="Shape 10"/>
          <p:cNvSpPr/>
          <p:nvPr/>
        </p:nvSpPr>
        <p:spPr>
          <a:xfrm>
            <a:off x="429768" y="1069848"/>
            <a:ext cx="3438144" cy="1672424"/>
          </a:xfrm>
          <a:prstGeom prst="roundRect">
            <a:avLst>
              <a:gd name="adj" fmla="val 5468"/>
            </a:avLst>
          </a:prstGeom>
          <a:solidFill>
            <a:srgbClr val="EDF2FF"/>
          </a:solidFill>
          <a:ln w="9525">
            <a:solidFill>
              <a:srgbClr val="3B7EF6"/>
            </a:solidFill>
            <a:prstDash val="solid"/>
          </a:ln>
        </p:spPr>
      </p:sp>
      <p:pic>
        <p:nvPicPr>
          <p:cNvPr id="14" name="Image 1" descr="/tmp/claude-0/-home-user-Market-Place/2b50ca51-ff9a-5ef3-82e5-0106c808a1f3/scratchpad/deck/w7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143000"/>
            <a:ext cx="3291840" cy="1526120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3927348" y="1069848"/>
            <a:ext cx="3438144" cy="1405615"/>
          </a:xfrm>
          <a:prstGeom prst="roundRect">
            <a:avLst>
              <a:gd name="adj" fmla="val 6505"/>
            </a:avLst>
          </a:prstGeom>
          <a:solidFill>
            <a:srgbClr val="EDF2FF"/>
          </a:solidFill>
          <a:ln w="9525">
            <a:solidFill>
              <a:srgbClr val="3B7EF6"/>
            </a:solidFill>
            <a:prstDash val="solid"/>
          </a:ln>
        </p:spPr>
      </p:sp>
      <p:pic>
        <p:nvPicPr>
          <p:cNvPr id="16" name="Image 2" descr="/tmp/claude-0/-home-user-Market-Place/2b50ca51-ff9a-5ef3-82e5-0106c808a1f3/scratchpad/deck/w8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00500" y="1143000"/>
            <a:ext cx="3291840" cy="1259311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7424928" y="1069848"/>
            <a:ext cx="3438144" cy="1408513"/>
          </a:xfrm>
          <a:prstGeom prst="roundRect">
            <a:avLst>
              <a:gd name="adj" fmla="val 6492"/>
            </a:avLst>
          </a:prstGeom>
          <a:solidFill>
            <a:srgbClr val="EDF2FF"/>
          </a:solidFill>
          <a:ln w="9525">
            <a:solidFill>
              <a:srgbClr val="3B7EF6"/>
            </a:solidFill>
            <a:prstDash val="solid"/>
          </a:ln>
        </p:spPr>
      </p:sp>
      <p:pic>
        <p:nvPicPr>
          <p:cNvPr id="18" name="Image 3" descr="/tmp/claude-0/-home-user-Market-Place/2b50ca51-ff9a-5ef3-82e5-0106c808a1f3/scratchpad/deck/w9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80" y="1143000"/>
            <a:ext cx="3291840" cy="1262209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502920" y="3034880"/>
            <a:ext cx="329184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9525">
            <a:solidFill>
              <a:srgbClr val="1A214D"/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640080" y="3153752"/>
            <a:ext cx="310896" cy="310896"/>
          </a:xfrm>
          <a:prstGeom prst="ellipse">
            <a:avLst/>
          </a:prstGeom>
          <a:solidFill>
            <a:srgbClr val="FDBA23"/>
          </a:solidFill>
          <a:ln/>
        </p:spPr>
      </p:sp>
      <p:sp>
        <p:nvSpPr>
          <p:cNvPr id="21" name="Text 15"/>
          <p:cNvSpPr txBox="1"/>
          <p:nvPr/>
        </p:nvSpPr>
        <p:spPr>
          <a:xfrm>
            <a:off x="640080" y="31537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21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</a:t>
            </a:r>
            <a:endParaRPr lang="en-US" sz="1100" dirty="0"/>
          </a:p>
        </p:txBody>
      </p:sp>
      <p:sp>
        <p:nvSpPr>
          <p:cNvPr id="22" name="Text 16"/>
          <p:cNvSpPr txBox="1"/>
          <p:nvPr/>
        </p:nvSpPr>
        <p:spPr>
          <a:xfrm>
            <a:off x="1051560" y="3144608"/>
            <a:ext cx="2606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B7EF6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Referral Code pop-up</a:t>
            </a:r>
            <a:endParaRPr lang="en-US" sz="1200" dirty="0"/>
          </a:p>
        </p:txBody>
      </p:sp>
      <p:sp>
        <p:nvSpPr>
          <p:cNvPr id="23" name="Text 17"/>
          <p:cNvSpPr txBox="1"/>
          <p:nvPr/>
        </p:nvSpPr>
        <p:spPr>
          <a:xfrm>
            <a:off x="640080" y="3537800"/>
            <a:ext cx="301752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A21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The customer enters the code the salesperson gave them. Validated live; an unknown code can be skipped. The latest matching code wins at submission.</a:t>
            </a:r>
            <a:endParaRPr lang="en-US" sz="1050" dirty="0"/>
          </a:p>
        </p:txBody>
      </p:sp>
      <p:sp>
        <p:nvSpPr>
          <p:cNvPr id="24" name="Shape 18"/>
          <p:cNvSpPr/>
          <p:nvPr/>
        </p:nvSpPr>
        <p:spPr>
          <a:xfrm>
            <a:off x="4000500" y="3034880"/>
            <a:ext cx="329184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9525">
            <a:solidFill>
              <a:srgbClr val="1A214D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4137660" y="3153752"/>
            <a:ext cx="310896" cy="310896"/>
          </a:xfrm>
          <a:prstGeom prst="ellipse">
            <a:avLst/>
          </a:prstGeom>
          <a:solidFill>
            <a:srgbClr val="FDBA23"/>
          </a:solidFill>
          <a:ln/>
        </p:spPr>
      </p:sp>
      <p:sp>
        <p:nvSpPr>
          <p:cNvPr id="26" name="Text 20"/>
          <p:cNvSpPr txBox="1"/>
          <p:nvPr/>
        </p:nvSpPr>
        <p:spPr>
          <a:xfrm>
            <a:off x="4137660" y="31537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21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2</a:t>
            </a:r>
            <a:endParaRPr lang="en-US" sz="1100" dirty="0"/>
          </a:p>
        </p:txBody>
      </p:sp>
      <p:sp>
        <p:nvSpPr>
          <p:cNvPr id="27" name="Text 21"/>
          <p:cNvSpPr txBox="1"/>
          <p:nvPr/>
        </p:nvSpPr>
        <p:spPr>
          <a:xfrm>
            <a:off x="4549140" y="3144608"/>
            <a:ext cx="2606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B7EF6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Lifecycle guardrails</a:t>
            </a:r>
            <a:endParaRPr lang="en-US" sz="1200" dirty="0"/>
          </a:p>
        </p:txBody>
      </p:sp>
      <p:sp>
        <p:nvSpPr>
          <p:cNvPr id="28" name="Text 22"/>
          <p:cNvSpPr txBox="1"/>
          <p:nvPr/>
        </p:nvSpPr>
        <p:spPr>
          <a:xfrm>
            <a:off x="4137660" y="3537800"/>
            <a:ext cx="301752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A21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 manager cannot leave Sale or be deactivated while active Sale users report to them (IEM003). Deactivating staff is allowed; their cases keep the tag.</a:t>
            </a:r>
            <a:endParaRPr lang="en-US" sz="1050" dirty="0"/>
          </a:p>
        </p:txBody>
      </p:sp>
      <p:sp>
        <p:nvSpPr>
          <p:cNvPr id="29" name="Shape 23"/>
          <p:cNvSpPr/>
          <p:nvPr/>
        </p:nvSpPr>
        <p:spPr>
          <a:xfrm>
            <a:off x="7498080" y="3034880"/>
            <a:ext cx="329184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9525">
            <a:solidFill>
              <a:srgbClr val="1A214D"/>
            </a:solidFill>
            <a:prstDash val="solid"/>
          </a:ln>
        </p:spPr>
      </p:sp>
      <p:sp>
        <p:nvSpPr>
          <p:cNvPr id="30" name="Shape 24"/>
          <p:cNvSpPr/>
          <p:nvPr/>
        </p:nvSpPr>
        <p:spPr>
          <a:xfrm>
            <a:off x="7635240" y="3153752"/>
            <a:ext cx="310896" cy="310896"/>
          </a:xfrm>
          <a:prstGeom prst="ellipse">
            <a:avLst/>
          </a:prstGeom>
          <a:solidFill>
            <a:srgbClr val="FDBA23"/>
          </a:solidFill>
          <a:ln/>
        </p:spPr>
      </p:sp>
      <p:sp>
        <p:nvSpPr>
          <p:cNvPr id="31" name="Text 25"/>
          <p:cNvSpPr txBox="1"/>
          <p:nvPr/>
        </p:nvSpPr>
        <p:spPr>
          <a:xfrm>
            <a:off x="7635240" y="31537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21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3</a:t>
            </a:r>
            <a:endParaRPr lang="en-US" sz="1100" dirty="0"/>
          </a:p>
        </p:txBody>
      </p:sp>
      <p:sp>
        <p:nvSpPr>
          <p:cNvPr id="32" name="Text 26"/>
          <p:cNvSpPr txBox="1"/>
          <p:nvPr/>
        </p:nvSpPr>
        <p:spPr>
          <a:xfrm>
            <a:off x="8046720" y="3144608"/>
            <a:ext cx="2606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B7EF6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Ops alert on unmatched codes</a:t>
            </a:r>
            <a:endParaRPr lang="en-US" sz="1200" dirty="0"/>
          </a:p>
        </p:txBody>
      </p:sp>
      <p:sp>
        <p:nvSpPr>
          <p:cNvPr id="33" name="Text 27"/>
          <p:cNvSpPr txBox="1"/>
          <p:nvPr/>
        </p:nvSpPr>
        <p:spPr>
          <a:xfrm>
            <a:off x="7635240" y="3537800"/>
            <a:ext cx="301752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A21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 typo or a leaver's code never fails silently: ops receive the code, the application reference and the timestamp (ET51 pattern).</a:t>
            </a:r>
            <a:endParaRPr lang="en-US" sz="1050" dirty="0"/>
          </a:p>
        </p:txBody>
      </p:sp>
      <p:sp>
        <p:nvSpPr>
          <p:cNvPr id="34" name="Shape 28"/>
          <p:cNvSpPr/>
          <p:nvPr/>
        </p:nvSpPr>
        <p:spPr>
          <a:xfrm>
            <a:off x="502920" y="5229440"/>
            <a:ext cx="10287000" cy="685800"/>
          </a:xfrm>
          <a:prstGeom prst="roundRect">
            <a:avLst>
              <a:gd name="adj" fmla="val 13333"/>
            </a:avLst>
          </a:prstGeom>
          <a:solidFill>
            <a:srgbClr val="EDF2FF"/>
          </a:solidFill>
          <a:ln w="12700">
            <a:solidFill>
              <a:srgbClr val="3B7EF6"/>
            </a:solidFill>
            <a:prstDash val="solid"/>
          </a:ln>
        </p:spPr>
      </p:sp>
      <p:sp>
        <p:nvSpPr>
          <p:cNvPr id="35" name="Text 29"/>
          <p:cNvSpPr txBox="1"/>
          <p:nvPr/>
        </p:nvSpPr>
        <p:spPr>
          <a:xfrm>
            <a:off x="685800" y="5229440"/>
            <a:ext cx="9921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A21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Every edge is audited: pop-up captures carry source and timestamp, lifecycle changes go through Maker/Checker, and alerts name the code, the application reference and the time received.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3B7E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rket-Place/2b50ca51-ff9a-5ef3-82e5-0106c808a1f3/scratchpad/deck/logo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274320"/>
            <a:ext cx="1097280" cy="318209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256032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3 · Why It Sells</a:t>
            </a:r>
            <a:endParaRPr lang="en-US" sz="3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37490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Six things a bank gets on day one</a:t>
            </a:r>
            <a:endParaRPr lang="en-US" sz="1400" dirty="0"/>
          </a:p>
        </p:txBody>
      </p:sp>
      <p:sp>
        <p:nvSpPr>
          <p:cNvPr id="5" name="Shape 2"/>
          <p:cNvSpPr/>
          <p:nvPr/>
        </p:nvSpPr>
        <p:spPr>
          <a:xfrm>
            <a:off x="10835640" y="6473952"/>
            <a:ext cx="164592" cy="16459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6" name="Shape 3"/>
          <p:cNvSpPr/>
          <p:nvPr/>
        </p:nvSpPr>
        <p:spPr>
          <a:xfrm>
            <a:off x="11055096" y="6473952"/>
            <a:ext cx="164592" cy="16459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7" name="Shape 4"/>
          <p:cNvSpPr/>
          <p:nvPr/>
        </p:nvSpPr>
        <p:spPr>
          <a:xfrm>
            <a:off x="11274552" y="6473952"/>
            <a:ext cx="164592" cy="16459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8" name="Shape 5"/>
          <p:cNvSpPr/>
          <p:nvPr/>
        </p:nvSpPr>
        <p:spPr>
          <a:xfrm>
            <a:off x="11584534" y="6473952"/>
            <a:ext cx="164592" cy="164592"/>
          </a:xfrm>
          <a:prstGeom prst="ellipse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515600" y="-2011680"/>
            <a:ext cx="4114800" cy="4114800"/>
          </a:xfrm>
          <a:prstGeom prst="ellipse">
            <a:avLst/>
          </a:prstGeom>
          <a:solidFill>
            <a:srgbClr val="1A214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228600" y="36576"/>
            <a:ext cx="10058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1A21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APPRO – INTERNAL &amp; APPROVED DOMAINS | Controlled Distribution</a:t>
            </a:r>
            <a:endParaRPr lang="en-US" sz="700" dirty="0"/>
          </a:p>
        </p:txBody>
      </p:sp>
      <p:pic>
        <p:nvPicPr>
          <p:cNvPr id="4" name="Image 0" descr="/tmp/claude-0/-home-user-Market-Place/2b50ca51-ff9a-5ef3-82e5-0106c808a1f3/scratchpad/deck/logo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98480" y="274320"/>
            <a:ext cx="1325880" cy="384503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228600" y="493776"/>
            <a:ext cx="1640434" cy="274320"/>
          </a:xfrm>
          <a:prstGeom prst="roundRect">
            <a:avLst>
              <a:gd name="adj" fmla="val 26667"/>
            </a:avLst>
          </a:prstGeom>
          <a:solidFill>
            <a:srgbClr val="FDBA23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274320" y="365760"/>
            <a:ext cx="1005840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A21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Best Selling</a:t>
            </a:r>
            <a:pPr algn="l" indent="0" marL="0">
              <a:buNone/>
            </a:pPr>
            <a:r>
              <a:rPr lang="en-US" sz="2000" b="1" dirty="0">
                <a:solidFill>
                  <a:srgbClr val="3B7EF6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 Points · what a bank gets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274320" y="6473952"/>
            <a:ext cx="164592" cy="164592"/>
          </a:xfrm>
          <a:prstGeom prst="ellipse">
            <a:avLst/>
          </a:prstGeom>
          <a:solidFill>
            <a:srgbClr val="3B7EF6"/>
          </a:solidFill>
          <a:ln/>
        </p:spPr>
      </p:sp>
      <p:sp>
        <p:nvSpPr>
          <p:cNvPr id="8" name="Shape 5"/>
          <p:cNvSpPr/>
          <p:nvPr/>
        </p:nvSpPr>
        <p:spPr>
          <a:xfrm>
            <a:off x="493776" y="6473952"/>
            <a:ext cx="164592" cy="164592"/>
          </a:xfrm>
          <a:prstGeom prst="ellipse">
            <a:avLst/>
          </a:prstGeom>
          <a:solidFill>
            <a:srgbClr val="3B7EF6"/>
          </a:solidFill>
          <a:ln/>
        </p:spPr>
      </p:sp>
      <p:sp>
        <p:nvSpPr>
          <p:cNvPr id="9" name="Shape 6"/>
          <p:cNvSpPr/>
          <p:nvPr/>
        </p:nvSpPr>
        <p:spPr>
          <a:xfrm>
            <a:off x="713232" y="6473952"/>
            <a:ext cx="164592" cy="164592"/>
          </a:xfrm>
          <a:prstGeom prst="ellipse">
            <a:avLst/>
          </a:prstGeom>
          <a:solidFill>
            <a:srgbClr val="3B7EF6"/>
          </a:solidFill>
          <a:ln/>
        </p:spPr>
      </p:sp>
      <p:sp>
        <p:nvSpPr>
          <p:cNvPr id="10" name="Shape 7"/>
          <p:cNvSpPr/>
          <p:nvPr/>
        </p:nvSpPr>
        <p:spPr>
          <a:xfrm>
            <a:off x="1023214" y="6473952"/>
            <a:ext cx="164592" cy="164592"/>
          </a:xfrm>
          <a:prstGeom prst="ellipse">
            <a:avLst/>
          </a:prstGeom>
          <a:solidFill>
            <a:srgbClr val="3B7EF6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1371600" y="6565392"/>
            <a:ext cx="9144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A21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This document is classified as INTERNAL &amp; WHITELISTED | Sharing allowed only with approved external domains</a:t>
            </a:r>
            <a:endParaRPr lang="en-US" sz="700" dirty="0"/>
          </a:p>
        </p:txBody>
      </p:sp>
      <p:sp>
        <p:nvSpPr>
          <p:cNvPr id="12" name="Text 9"/>
          <p:cNvSpPr txBox="1"/>
          <p:nvPr/>
        </p:nvSpPr>
        <p:spPr>
          <a:xfrm>
            <a:off x="11521440" y="656539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A21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12</a:t>
            </a:r>
            <a:endParaRPr lang="en-US" sz="8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" y="1097280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1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Six things a bank gets on day one. Every proof line below comes straight from the approved acceptance criteria of AMP-2548.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457200" y="1965960"/>
            <a:ext cx="3566160" cy="2011680"/>
          </a:xfrm>
          <a:prstGeom prst="roundRect">
            <a:avLst>
              <a:gd name="adj" fmla="val 3636"/>
            </a:avLst>
          </a:prstGeom>
          <a:solidFill>
            <a:srgbClr val="EDF2FF"/>
          </a:solidFill>
          <a:ln w="9525">
            <a:solidFill>
              <a:srgbClr val="3B7EF6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594360" y="2084832"/>
            <a:ext cx="310896" cy="310896"/>
          </a:xfrm>
          <a:prstGeom prst="ellipse">
            <a:avLst/>
          </a:prstGeom>
          <a:solidFill>
            <a:srgbClr val="FDBA23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594360" y="20848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21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05840" y="2075688"/>
            <a:ext cx="2880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7EF6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One code, end to end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594360" y="2468880"/>
            <a:ext cx="3291840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1A21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The bank's own Sale Agent Code on the user record, in the UTM link, in the customer pop-up and on the application. No mapping tables, no second identifier.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4251960" y="1965960"/>
            <a:ext cx="3566160" cy="2011680"/>
          </a:xfrm>
          <a:prstGeom prst="roundRect">
            <a:avLst>
              <a:gd name="adj" fmla="val 3636"/>
            </a:avLst>
          </a:prstGeom>
          <a:solidFill>
            <a:srgbClr val="EDF2FF"/>
          </a:solidFill>
          <a:ln w="9525">
            <a:solidFill>
              <a:srgbClr val="3B7EF6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4389120" y="2084832"/>
            <a:ext cx="310896" cy="310896"/>
          </a:xfrm>
          <a:prstGeom prst="ellipse">
            <a:avLst/>
          </a:prstGeom>
          <a:solidFill>
            <a:srgbClr val="FDBA23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4389120" y="20848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21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2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4800600" y="2075688"/>
            <a:ext cx="2880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7EF6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Switch it on by department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4389120" y="2468880"/>
            <a:ext cx="3291840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1A21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Department = Sale drives the fields, the filters and the round-robin pool. No new permission, no role rework, no migration grant.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8046720" y="1965960"/>
            <a:ext cx="3566160" cy="2011680"/>
          </a:xfrm>
          <a:prstGeom prst="roundRect">
            <a:avLst>
              <a:gd name="adj" fmla="val 3636"/>
            </a:avLst>
          </a:prstGeom>
          <a:solidFill>
            <a:srgbClr val="EDF2FF"/>
          </a:solidFill>
          <a:ln w="9525">
            <a:solidFill>
              <a:srgbClr val="3B7EF6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8183880" y="2084832"/>
            <a:ext cx="310896" cy="310896"/>
          </a:xfrm>
          <a:prstGeom prst="ellipse">
            <a:avLst/>
          </a:prstGeom>
          <a:solidFill>
            <a:srgbClr val="FDBA23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8183880" y="20848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21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Text 24"/>
          <p:cNvSpPr txBox="1"/>
          <p:nvPr/>
        </p:nvSpPr>
        <p:spPr>
          <a:xfrm>
            <a:off x="8595360" y="2075688"/>
            <a:ext cx="2880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7EF6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Hierarchy without limits</a:t>
            </a:r>
            <a:endParaRPr lang="en-US" sz="1300" dirty="0"/>
          </a:p>
        </p:txBody>
      </p:sp>
      <p:sp>
        <p:nvSpPr>
          <p:cNvPr id="28" name="Text 25"/>
          <p:cNvSpPr txBox="1"/>
          <p:nvPr/>
        </p:nvSpPr>
        <p:spPr>
          <a:xfrm>
            <a:off x="8183880" y="2468880"/>
            <a:ext cx="3291840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1A21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Unlimited depth, several managers per user, real time when the org chart changes. A regional head sees every level below.</a:t>
            </a:r>
            <a:endParaRPr lang="en-US" sz="1150" dirty="0"/>
          </a:p>
        </p:txBody>
      </p:sp>
      <p:sp>
        <p:nvSpPr>
          <p:cNvPr id="29" name="Shape 26"/>
          <p:cNvSpPr/>
          <p:nvPr/>
        </p:nvSpPr>
        <p:spPr>
          <a:xfrm>
            <a:off x="457200" y="4206240"/>
            <a:ext cx="3566160" cy="2011680"/>
          </a:xfrm>
          <a:prstGeom prst="roundRect">
            <a:avLst>
              <a:gd name="adj" fmla="val 3636"/>
            </a:avLst>
          </a:prstGeom>
          <a:solidFill>
            <a:srgbClr val="EDF2FF"/>
          </a:solidFill>
          <a:ln w="9525">
            <a:solidFill>
              <a:srgbClr val="3B7EF6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594360" y="4325112"/>
            <a:ext cx="310896" cy="310896"/>
          </a:xfrm>
          <a:prstGeom prst="ellipse">
            <a:avLst/>
          </a:prstGeom>
          <a:solidFill>
            <a:srgbClr val="FDBA23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594360" y="43251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21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4</a:t>
            </a:r>
            <a:endParaRPr lang="en-US" sz="1100" dirty="0"/>
          </a:p>
        </p:txBody>
      </p:sp>
      <p:sp>
        <p:nvSpPr>
          <p:cNvPr id="32" name="Text 29"/>
          <p:cNvSpPr txBox="1"/>
          <p:nvPr/>
        </p:nvSpPr>
        <p:spPr>
          <a:xfrm>
            <a:off x="1005840" y="4315968"/>
            <a:ext cx="2880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7EF6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Attribution you can audit</a:t>
            </a:r>
            <a:endParaRPr lang="en-US" sz="1300" dirty="0"/>
          </a:p>
        </p:txBody>
      </p:sp>
      <p:sp>
        <p:nvSpPr>
          <p:cNvPr id="33" name="Text 30"/>
          <p:cNvSpPr txBox="1"/>
          <p:nvPr/>
        </p:nvSpPr>
        <p:spPr>
          <a:xfrm>
            <a:off x="594360" y="4709160"/>
            <a:ext cx="3291840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1A21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Every capture is logged with its source and timestamp; the tag is immutable once submitted, so sales credit never moves silently.</a:t>
            </a:r>
            <a:endParaRPr lang="en-US" sz="1150" dirty="0"/>
          </a:p>
        </p:txBody>
      </p:sp>
      <p:sp>
        <p:nvSpPr>
          <p:cNvPr id="34" name="Shape 31"/>
          <p:cNvSpPr/>
          <p:nvPr/>
        </p:nvSpPr>
        <p:spPr>
          <a:xfrm>
            <a:off x="4251960" y="4206240"/>
            <a:ext cx="3566160" cy="2011680"/>
          </a:xfrm>
          <a:prstGeom prst="roundRect">
            <a:avLst>
              <a:gd name="adj" fmla="val 3636"/>
            </a:avLst>
          </a:prstGeom>
          <a:solidFill>
            <a:srgbClr val="EDF2FF"/>
          </a:solidFill>
          <a:ln w="9525">
            <a:solidFill>
              <a:srgbClr val="3B7EF6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4389120" y="4325112"/>
            <a:ext cx="310896" cy="310896"/>
          </a:xfrm>
          <a:prstGeom prst="ellipse">
            <a:avLst/>
          </a:prstGeom>
          <a:solidFill>
            <a:srgbClr val="FDBA23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4389120" y="43251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21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5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4800600" y="4315968"/>
            <a:ext cx="2880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7EF6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Operations never lose sight</a:t>
            </a:r>
            <a:endParaRPr lang="en-US" sz="1300" dirty="0"/>
          </a:p>
        </p:txBody>
      </p:sp>
      <p:sp>
        <p:nvSpPr>
          <p:cNvPr id="38" name="Text 35"/>
          <p:cNvSpPr txBox="1"/>
          <p:nvPr/>
        </p:nvSpPr>
        <p:spPr>
          <a:xfrm>
            <a:off x="4389120" y="4709160"/>
            <a:ext cx="3291840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1A21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Every other department keeps full visibility, untagged cases included, and a typo'd link raises an alert instead of a lost lead.</a:t>
            </a:r>
            <a:endParaRPr lang="en-US" sz="1150" dirty="0"/>
          </a:p>
        </p:txBody>
      </p:sp>
      <p:sp>
        <p:nvSpPr>
          <p:cNvPr id="39" name="Shape 36"/>
          <p:cNvSpPr/>
          <p:nvPr/>
        </p:nvSpPr>
        <p:spPr>
          <a:xfrm>
            <a:off x="8046720" y="4206240"/>
            <a:ext cx="3566160" cy="2011680"/>
          </a:xfrm>
          <a:prstGeom prst="roundRect">
            <a:avLst>
              <a:gd name="adj" fmla="val 3636"/>
            </a:avLst>
          </a:prstGeom>
          <a:solidFill>
            <a:srgbClr val="EDF2FF"/>
          </a:solidFill>
          <a:ln w="9525">
            <a:solidFill>
              <a:srgbClr val="3B7EF6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8183880" y="4325112"/>
            <a:ext cx="310896" cy="310896"/>
          </a:xfrm>
          <a:prstGeom prst="ellipse">
            <a:avLst/>
          </a:prstGeom>
          <a:solidFill>
            <a:srgbClr val="FDBA23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8183880" y="43251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21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6</a:t>
            </a: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8595360" y="4315968"/>
            <a:ext cx="2880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7EF6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Bank-grade control</a:t>
            </a:r>
            <a:endParaRPr lang="en-US" sz="1300" dirty="0"/>
          </a:p>
        </p:txBody>
      </p:sp>
      <p:sp>
        <p:nvSpPr>
          <p:cNvPr id="43" name="Text 40"/>
          <p:cNvSpPr txBox="1"/>
          <p:nvPr/>
        </p:nvSpPr>
        <p:spPr>
          <a:xfrm>
            <a:off x="8183880" y="4709160"/>
            <a:ext cx="3291840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1A21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Maker/Checker on every change, uniqueness and cycle checks re-run at approval, scope evaluated server-side on every request.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515600" y="-2011680"/>
            <a:ext cx="4114800" cy="4114800"/>
          </a:xfrm>
          <a:prstGeom prst="ellipse">
            <a:avLst/>
          </a:prstGeom>
          <a:solidFill>
            <a:srgbClr val="1A214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228600" y="36576"/>
            <a:ext cx="10058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1A21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APPRO – INTERNAL &amp; APPROVED DOMAINS | Controlled Distribution</a:t>
            </a:r>
            <a:endParaRPr lang="en-US" sz="700" dirty="0"/>
          </a:p>
        </p:txBody>
      </p:sp>
      <p:pic>
        <p:nvPicPr>
          <p:cNvPr id="4" name="Image 0" descr="/tmp/claude-0/-home-user-Market-Place/2b50ca51-ff9a-5ef3-82e5-0106c808a1f3/scratchpad/deck/logo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98480" y="274320"/>
            <a:ext cx="1325880" cy="384503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228600" y="493776"/>
            <a:ext cx="1640434" cy="274320"/>
          </a:xfrm>
          <a:prstGeom prst="roundRect">
            <a:avLst>
              <a:gd name="adj" fmla="val 26667"/>
            </a:avLst>
          </a:prstGeom>
          <a:solidFill>
            <a:srgbClr val="FDBA23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274320" y="365760"/>
            <a:ext cx="1005840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A21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Go-Live</a:t>
            </a:r>
            <a:pPr algn="l" indent="0" marL="0">
              <a:buNone/>
            </a:pPr>
            <a:r>
              <a:rPr lang="en-US" sz="2000" b="1" dirty="0">
                <a:solidFill>
                  <a:srgbClr val="3B7EF6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 Readiness · data, dependencies, next steps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274320" y="6473952"/>
            <a:ext cx="164592" cy="164592"/>
          </a:xfrm>
          <a:prstGeom prst="ellipse">
            <a:avLst/>
          </a:prstGeom>
          <a:solidFill>
            <a:srgbClr val="3B7EF6"/>
          </a:solidFill>
          <a:ln/>
        </p:spPr>
      </p:sp>
      <p:sp>
        <p:nvSpPr>
          <p:cNvPr id="8" name="Shape 5"/>
          <p:cNvSpPr/>
          <p:nvPr/>
        </p:nvSpPr>
        <p:spPr>
          <a:xfrm>
            <a:off x="493776" y="6473952"/>
            <a:ext cx="164592" cy="164592"/>
          </a:xfrm>
          <a:prstGeom prst="ellipse">
            <a:avLst/>
          </a:prstGeom>
          <a:solidFill>
            <a:srgbClr val="3B7EF6"/>
          </a:solidFill>
          <a:ln/>
        </p:spPr>
      </p:sp>
      <p:sp>
        <p:nvSpPr>
          <p:cNvPr id="9" name="Shape 6"/>
          <p:cNvSpPr/>
          <p:nvPr/>
        </p:nvSpPr>
        <p:spPr>
          <a:xfrm>
            <a:off x="713232" y="6473952"/>
            <a:ext cx="164592" cy="164592"/>
          </a:xfrm>
          <a:prstGeom prst="ellipse">
            <a:avLst/>
          </a:prstGeom>
          <a:solidFill>
            <a:srgbClr val="3B7EF6"/>
          </a:solidFill>
          <a:ln/>
        </p:spPr>
      </p:sp>
      <p:sp>
        <p:nvSpPr>
          <p:cNvPr id="10" name="Shape 7"/>
          <p:cNvSpPr/>
          <p:nvPr/>
        </p:nvSpPr>
        <p:spPr>
          <a:xfrm>
            <a:off x="1023214" y="6473952"/>
            <a:ext cx="164592" cy="164592"/>
          </a:xfrm>
          <a:prstGeom prst="ellipse">
            <a:avLst/>
          </a:prstGeom>
          <a:solidFill>
            <a:srgbClr val="3B7EF6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1371600" y="6565392"/>
            <a:ext cx="9144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A21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This document is classified as INTERNAL &amp; WHITELISTED | Sharing allowed only with approved external domains</a:t>
            </a:r>
            <a:endParaRPr lang="en-US" sz="700" dirty="0"/>
          </a:p>
        </p:txBody>
      </p:sp>
      <p:sp>
        <p:nvSpPr>
          <p:cNvPr id="12" name="Text 9"/>
          <p:cNvSpPr txBox="1"/>
          <p:nvPr/>
        </p:nvSpPr>
        <p:spPr>
          <a:xfrm>
            <a:off x="11521440" y="656539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A21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13</a:t>
            </a:r>
            <a:endParaRPr lang="en-US" sz="800" dirty="0"/>
          </a:p>
        </p:txBody>
      </p:sp>
      <p:sp>
        <p:nvSpPr>
          <p:cNvPr id="13" name="Shape 10"/>
          <p:cNvSpPr/>
          <p:nvPr/>
        </p:nvSpPr>
        <p:spPr>
          <a:xfrm>
            <a:off x="457200" y="1097280"/>
            <a:ext cx="5029200" cy="320040"/>
          </a:xfrm>
          <a:prstGeom prst="roundRect">
            <a:avLst>
              <a:gd name="adj" fmla="val 17143"/>
            </a:avLst>
          </a:prstGeom>
          <a:solidFill>
            <a:srgbClr val="3B7EF6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57200" y="109728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Day-one data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457200" y="1554480"/>
            <a:ext cx="502920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1A214D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94360" y="1664208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B7EF6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Existing Sale users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594360" y="2057400"/>
            <a:ext cx="475488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A21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Get their Sale Agent Code through Edit User (Maker/Checker) at go-live; until then they see no applications (IM005).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457200" y="3017520"/>
            <a:ext cx="502920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1A214D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94360" y="3127248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B7EF6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Historical applications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594360" y="3520440"/>
            <a:ext cx="475488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A21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One-off backfill: cases whose stored referral code matches an active Sale Agent Code are tagged (source = Backfill, audited). No round-robin backfill.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457200" y="4480560"/>
            <a:ext cx="502920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1A214D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94360" y="4590288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B7EF6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Everything else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594360" y="4983480"/>
            <a:ext cx="475488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A21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Stays visible to non-Sale users exactly as today. Reports, exports and queues are untouched.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5760720" y="1097280"/>
            <a:ext cx="5029200" cy="320040"/>
          </a:xfrm>
          <a:prstGeom prst="roundRect">
            <a:avLst>
              <a:gd name="adj" fmla="val 17143"/>
            </a:avLst>
          </a:prstGeom>
          <a:solidFill>
            <a:srgbClr val="FDBA23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5760720" y="109728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21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Dependencies to close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5760720" y="1554480"/>
            <a:ext cx="5029200" cy="1325880"/>
          </a:xfrm>
          <a:prstGeom prst="roundRect">
            <a:avLst>
              <a:gd name="adj" fmla="val 5517"/>
            </a:avLst>
          </a:prstGeom>
          <a:solidFill>
            <a:srgbClr val="EDF2FF"/>
          </a:solidFill>
          <a:ln w="9525">
            <a:solidFill>
              <a:srgbClr val="3B7EF6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5897880" y="1664208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B7EF6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Distribution Portal parameter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5897880" y="2057400"/>
            <a:ext cx="475488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A21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sale_agent_code added to the Super Admin-configurable UTM parameter list: one name, case-sensitive, across every channel and product.</a:t>
            </a:r>
            <a:endParaRPr lang="en-US" sz="1050" dirty="0"/>
          </a:p>
        </p:txBody>
      </p:sp>
      <p:sp>
        <p:nvSpPr>
          <p:cNvPr id="29" name="Shape 26"/>
          <p:cNvSpPr/>
          <p:nvPr/>
        </p:nvSpPr>
        <p:spPr>
          <a:xfrm>
            <a:off x="5760720" y="3017520"/>
            <a:ext cx="5029200" cy="1325880"/>
          </a:xfrm>
          <a:prstGeom prst="roundRect">
            <a:avLst>
              <a:gd name="adj" fmla="val 5517"/>
            </a:avLst>
          </a:prstGeom>
          <a:solidFill>
            <a:srgbClr val="EDF2FF"/>
          </a:solidFill>
          <a:ln w="9525">
            <a:solidFill>
              <a:srgbClr val="3B7EF6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5897880" y="3127248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B7EF6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Notification audit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5897880" y="3520440"/>
            <a:ext cx="475488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A21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Review every template that mails the assigned staff member and decide where the Reporting Manager is copied (separate ticket).</a:t>
            </a:r>
            <a:endParaRPr lang="en-US" sz="1050" dirty="0"/>
          </a:p>
        </p:txBody>
      </p:sp>
      <p:sp>
        <p:nvSpPr>
          <p:cNvPr id="32" name="Shape 29"/>
          <p:cNvSpPr/>
          <p:nvPr/>
        </p:nvSpPr>
        <p:spPr>
          <a:xfrm>
            <a:off x="5760720" y="4480560"/>
            <a:ext cx="5029200" cy="1325880"/>
          </a:xfrm>
          <a:prstGeom prst="roundRect">
            <a:avLst>
              <a:gd name="adj" fmla="val 5517"/>
            </a:avLst>
          </a:prstGeom>
          <a:solidFill>
            <a:srgbClr val="EDF2FF"/>
          </a:solidFill>
          <a:ln w="9525">
            <a:solidFill>
              <a:srgbClr val="3B7EF6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897880" y="4590288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B7EF6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Mockup and messages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5897880" y="4983480"/>
            <a:ext cx="475488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A21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Mockup labels move to "Sale Agent Code"; IEM001 to IEM003 and IEM005 confirmed unused in the message registry.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DF2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18320" y="4114800"/>
            <a:ext cx="5486400" cy="5486400"/>
          </a:xfrm>
          <a:prstGeom prst="ellipse">
            <a:avLst/>
          </a:prstGeom>
          <a:solidFill>
            <a:srgbClr val="1A214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371600" y="2286000"/>
            <a:ext cx="5486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21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Thank you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1371600" y="338328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B7EF6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You Choose It, We Approve It.</a:t>
            </a:r>
            <a:endParaRPr lang="en-US" sz="1600" dirty="0"/>
          </a:p>
        </p:txBody>
      </p:sp>
      <p:pic>
        <p:nvPicPr>
          <p:cNvPr id="5" name="Image 0" descr="/tmp/claude-0/-home-user-Market-Place/2b50ca51-ff9a-5ef3-82e5-0106c808a1f3/scratchpad/deck/logo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0" y="4389120"/>
            <a:ext cx="1828800" cy="53034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71600" y="6583680"/>
            <a:ext cx="9144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A21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This is not a legally binding document. Highly confidential — not to be shared without written consent.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Appro Onboarding Solutions FZ-LLC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Sale Agent Code &amp; Reporting Hierarchy</dc:title>
  <dc:subject>PptxGenJS Presentation</dc:subject>
  <dc:creator>Appro</dc:creator>
  <cp:lastModifiedBy>Appro</cp:lastModifiedBy>
  <cp:revision>1</cp:revision>
  <dcterms:created xsi:type="dcterms:W3CDTF">2026-09-08T11:58:38Z</dcterms:created>
  <dcterms:modified xsi:type="dcterms:W3CDTF">2026-09-08T11:58:38Z</dcterms:modified>
</cp:coreProperties>
</file>